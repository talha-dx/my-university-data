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9"/>
  </p:notesMasterIdLst>
  <p:sldIdLst>
    <p:sldId id="256" r:id="rId2"/>
    <p:sldId id="304" r:id="rId3"/>
    <p:sldId id="297" r:id="rId4"/>
    <p:sldId id="299" r:id="rId5"/>
    <p:sldId id="300" r:id="rId6"/>
    <p:sldId id="301" r:id="rId7"/>
    <p:sldId id="302" r:id="rId8"/>
    <p:sldId id="261" r:id="rId9"/>
    <p:sldId id="263" r:id="rId10"/>
    <p:sldId id="265" r:id="rId11"/>
    <p:sldId id="275" r:id="rId12"/>
    <p:sldId id="276" r:id="rId13"/>
    <p:sldId id="279" r:id="rId14"/>
    <p:sldId id="280" r:id="rId15"/>
    <p:sldId id="282" r:id="rId16"/>
    <p:sldId id="283" r:id="rId17"/>
    <p:sldId id="284" r:id="rId18"/>
    <p:sldId id="287" r:id="rId19"/>
    <p:sldId id="288" r:id="rId20"/>
    <p:sldId id="289" r:id="rId21"/>
    <p:sldId id="285" r:id="rId22"/>
    <p:sldId id="286" r:id="rId23"/>
    <p:sldId id="290" r:id="rId24"/>
    <p:sldId id="291" r:id="rId25"/>
    <p:sldId id="292" r:id="rId26"/>
    <p:sldId id="293" r:id="rId27"/>
    <p:sldId id="294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ukhsana Kousar" initials="R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1" autoAdjust="0"/>
    <p:restoredTop sz="94719" autoAdjust="0"/>
  </p:normalViewPr>
  <p:slideViewPr>
    <p:cSldViewPr snapToGrid="0">
      <p:cViewPr varScale="1">
        <p:scale>
          <a:sx n="78" d="100"/>
          <a:sy n="78" d="100"/>
        </p:scale>
        <p:origin x="192" y="9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dPt>
            <c:idx val="0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flat" dir="tl">
                  <a:rot lat="0" lon="0" rev="4200000"/>
                </a:lightRig>
              </a:scene3d>
              <a:sp3d prstMaterial="flat">
                <a:bevelT w="50800" h="63500" prst="riblet"/>
              </a:sp3d>
            </c:spPr>
            <c:extLst>
              <c:ext xmlns:c16="http://schemas.microsoft.com/office/drawing/2014/chart" uri="{C3380CC4-5D6E-409C-BE32-E72D297353CC}">
                <c16:uniqueId val="{00000001-AC18-4ADA-96B3-102F4DBB17CF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flat" dir="tl">
                  <a:rot lat="0" lon="0" rev="4200000"/>
                </a:lightRig>
              </a:scene3d>
              <a:sp3d prstMaterial="flat">
                <a:bevelT w="50800" h="63500" prst="riblet"/>
              </a:sp3d>
            </c:spPr>
            <c:extLst>
              <c:ext xmlns:c16="http://schemas.microsoft.com/office/drawing/2014/chart" uri="{C3380CC4-5D6E-409C-BE32-E72D297353CC}">
                <c16:uniqueId val="{00000003-AC18-4ADA-96B3-102F4DBB17CF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flat" dir="tl">
                  <a:rot lat="0" lon="0" rev="4200000"/>
                </a:lightRig>
              </a:scene3d>
              <a:sp3d prstMaterial="flat">
                <a:bevelT w="50800" h="63500" prst="riblet"/>
              </a:sp3d>
            </c:spPr>
            <c:extLst>
              <c:ext xmlns:c16="http://schemas.microsoft.com/office/drawing/2014/chart" uri="{C3380CC4-5D6E-409C-BE32-E72D297353CC}">
                <c16:uniqueId val="{00000005-AC18-4ADA-96B3-102F4DBB17CF}"/>
              </c:ext>
            </c:extLst>
          </c:dPt>
          <c:dPt>
            <c:idx val="3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flat" dir="tl">
                  <a:rot lat="0" lon="0" rev="4200000"/>
                </a:lightRig>
              </a:scene3d>
              <a:sp3d prstMaterial="flat">
                <a:bevelT w="50800" h="63500" prst="riblet"/>
              </a:sp3d>
            </c:spPr>
            <c:extLst>
              <c:ext xmlns:c16="http://schemas.microsoft.com/office/drawing/2014/chart" uri="{C3380CC4-5D6E-409C-BE32-E72D297353CC}">
                <c16:uniqueId val="{00000007-AC18-4ADA-96B3-102F4DBB17CF}"/>
              </c:ext>
            </c:extLst>
          </c:dPt>
          <c:dPt>
            <c:idx val="4"/>
            <c:bubble3D val="0"/>
            <c:spPr>
              <a:solidFill>
                <a:schemeClr val="accent5">
                  <a:lumMod val="60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flat" dir="tl">
                  <a:rot lat="0" lon="0" rev="4200000"/>
                </a:lightRig>
              </a:scene3d>
              <a:sp3d prstMaterial="flat">
                <a:bevelT w="50800" h="63500" prst="riblet"/>
              </a:sp3d>
            </c:spPr>
            <c:extLst>
              <c:ext xmlns:c16="http://schemas.microsoft.com/office/drawing/2014/chart" uri="{C3380CC4-5D6E-409C-BE32-E72D297353CC}">
                <c16:uniqueId val="{00000009-AC18-4ADA-96B3-102F4DBB17CF}"/>
              </c:ext>
            </c:extLst>
          </c:dPt>
          <c:dPt>
            <c:idx val="5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flat" dir="tl">
                  <a:rot lat="0" lon="0" rev="4200000"/>
                </a:lightRig>
              </a:scene3d>
              <a:sp3d prstMaterial="flat">
                <a:bevelT w="50800" h="63500" prst="riblet"/>
              </a:sp3d>
            </c:spPr>
            <c:extLst>
              <c:ext xmlns:c16="http://schemas.microsoft.com/office/drawing/2014/chart" uri="{C3380CC4-5D6E-409C-BE32-E72D297353CC}">
                <c16:uniqueId val="{0000000B-AC18-4ADA-96B3-102F4DBB17CF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en-US" sz="1195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9.2956280313685996E-2"/>
                      <c:h val="0.1159330839659649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AC18-4ADA-96B3-102F4DBB17C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27153FC5-3859-484F-8DA9-28313A392EC1}" type="CATEGORYNAME">
                      <a:rPr lang="en-US"/>
                      <a:pPr/>
                      <a:t>[CATEGORY NAME]</a:t>
                    </a:fld>
                    <a:endParaRPr lang="en-US"/>
                  </a:p>
                </c:rich>
              </c:tx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AC18-4ADA-96B3-102F4DBB17C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4D57DB67-7878-45B7-A7B6-766A2E7A842E}" type="CATEGORYNAME">
                      <a:rPr lang="en-US"/>
                      <a:pPr/>
                      <a:t>[CATEGORY NAME]</a:t>
                    </a:fld>
                    <a:endParaRPr lang="en-US"/>
                  </a:p>
                </c:rich>
              </c:tx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AC18-4ADA-96B3-102F4DBB17CF}"/>
                </c:ext>
              </c:extLst>
            </c:dLbl>
            <c:dLbl>
              <c:idx val="3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fld id="{666D9546-E9EA-44C1-A69D-29E64D974742}" type="CATEGORYNAME">
                      <a:rPr lang="en-US"/>
                      <a:pPr/>
                      <a:t>[CATEGORY NAME]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AC18-4ADA-96B3-102F4DBB17C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prstDash val="solid"/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Assignments</c:v>
                </c:pt>
                <c:pt idx="1">
                  <c:v>Quizzes</c:v>
                </c:pt>
                <c:pt idx="2">
                  <c:v>Class Participation</c:v>
                </c:pt>
                <c:pt idx="3">
                  <c:v>Presentations </c:v>
                </c:pt>
                <c:pt idx="4">
                  <c:v>Midterm Exams</c:v>
                </c:pt>
                <c:pt idx="5">
                  <c:v>Final Exam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10</c:v>
                </c:pt>
                <c:pt idx="4">
                  <c:v>30</c:v>
                </c:pt>
                <c:pt idx="5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C18-4ADA-96B3-102F4DBB17CF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6350" cap="flat" cmpd="sng" algn="ctr">
      <a:noFill/>
      <a:prstDash val="solid"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9E2398-CBE2-459D-9238-487EA2F76D2C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1602C6-7889-42B4-BE02-84F6318ACBA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Example objectives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At the end of this lesson, you will be able to: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Save files to the team Web server.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Move files to different locations on the team Web server.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Share files on the team Web server.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2FD335-6D8E-486A-8F5F-DFC7325903FF}" type="slidenum">
              <a:rPr lang="en-US" smtClean="0"/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8A38B1-D0DC-49DF-A1C1-E1ECBF4BE59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8A38B1-D0DC-49DF-A1C1-E1ECBF4BE59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8A38B1-D0DC-49DF-A1C1-E1ECBF4BE59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Science: Knowledge</a:t>
            </a:r>
          </a:p>
          <a:p>
            <a:r>
              <a:rPr lang="en-US" dirty="0" err="1"/>
              <a:t>Engg</a:t>
            </a:r>
            <a:r>
              <a:rPr lang="en-US" dirty="0"/>
              <a:t>: Application of that knowledge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8A38B1-D0DC-49DF-A1C1-E1ECBF4BE59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Software maintainability is defined as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degree to which an application is understood, repaired, or enhanced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dependability of a system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reflects the user's degree of trust in that system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It reflects the extent of the user's confidence that it will operate as users expect and that it will not 'fail' in normal use.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Usability is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quality attribute that assesses how easy user interfaces are to use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word "usability" also refers to methods for improving ease-of-use during the design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1602C6-7889-42B4-BE02-84F6318ACBAA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1602C6-7889-42B4-BE02-84F6318ACBA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9769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Software specification - defining what the system should do;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Software design and implementation - defining the organization of the system and implementing the system;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Software validation - checking that it does what the customer wants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Software evolution - changing the system in response to changing customer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1602C6-7889-42B4-BE02-84F6318ACBAA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03FCE02C-6EC6-4E09-BC2C-9FDED4DE236E}" type="datetimeFigureOut">
              <a:rPr lang="en-US" smtClean="0"/>
              <a:t>3/11/26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D8F36E1-9596-4E98-8786-4A17C5D29C65}" type="datetimeFigureOut">
              <a:rPr lang="en-US" smtClean="0"/>
              <a:t>3/11/26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345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E4D1A55-63BC-4BA2-9538-7DDEADA10621}" type="datetimeFigureOut">
              <a:rPr lang="en-US" smtClean="0"/>
              <a:t>3/11/26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D01ABB-8821-4BF5-97A9-E1A66ACAEAA9}" type="datetimeFigureOut">
              <a:rPr lang="en-US" smtClean="0"/>
              <a:t>3/11/26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C37B1C-D4A1-4A4F-A470-80868146AFC5}" type="datetimeFigureOut">
              <a:rPr lang="en-US" smtClean="0"/>
              <a:t>3/11/26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31D1B9-F39E-471E-80A9-595CAA5664AD}" type="datetimeFigureOut">
              <a:rPr lang="en-US" smtClean="0"/>
              <a:t>3/11/26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FCEABC-E2B9-4606-A74F-CB06AF596887}" type="datetimeFigureOut">
              <a:rPr lang="en-US" smtClean="0"/>
              <a:t>3/11/26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34693" y="237744"/>
            <a:ext cx="8633081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16" name="Rectangle 15"/>
          <p:cNvSpPr/>
          <p:nvPr/>
        </p:nvSpPr>
        <p:spPr>
          <a:xfrm>
            <a:off x="371856" y="374904"/>
            <a:ext cx="8353044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575" y="704850"/>
            <a:ext cx="7562850" cy="51435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A8850A0-01A3-4F4E-AA52-F716A9BFD4EB}" type="datetimeFigureOut">
              <a:rPr lang="en-US" smtClean="0"/>
              <a:t>3/11/26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39158" y="6214535"/>
            <a:ext cx="5184648" cy="256032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1"/>
          </a:solidFill>
          <a:ln w="6350" cap="sq">
            <a:solidFill>
              <a:schemeClr val="tx1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solidFill>
            <a:schemeClr val="bg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601076" cy="6382512"/>
          </a:xfrm>
          <a:solidFill>
            <a:srgbClr val="808080"/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5811CCA-BB49-46C7-A0E2-F42339750F9A}" type="datetimeFigureOut">
              <a:rPr lang="en-US" smtClean="0"/>
              <a:t>3/11/26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B075A7A-4A9A-410F-B848-AB998ACC9419}" type="datetimeFigureOut">
              <a:rPr lang="en-US" smtClean="0"/>
              <a:t>3/11/26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A5F3E88-2D66-4D17-B0FA-EA13CB20B2FF}" type="datetimeFigureOut">
              <a:rPr lang="en-US" smtClean="0"/>
              <a:t>3/11/26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bg2"/>
                </a:solidFill>
              </a:defRPr>
            </a:lvl1pPr>
          </a:lstStyle>
          <a:p>
            <a:fld id="{17205CAA-4E5A-4223-BD55-C5D2841AC9EF}" type="datetimeFigureOut">
              <a:rPr lang="en-US" smtClean="0"/>
              <a:t>3/11/26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/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89992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200275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8pPr>
      <a:lvl9pPr marL="2499995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biba.arshad@uow.edu.pk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5161" y="3541689"/>
            <a:ext cx="9460970" cy="90152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4000" b="1" dirty="0">
                <a:effectLst/>
              </a:rPr>
              <a:t>Software Engineering</a:t>
            </a:r>
            <a:br>
              <a:rPr lang="en-US" sz="4400" b="1" dirty="0">
                <a:effectLst/>
              </a:rPr>
            </a:br>
            <a:br>
              <a:rPr lang="en-US" sz="4400" b="1" dirty="0">
                <a:effectLst/>
              </a:rPr>
            </a:br>
            <a:endParaRPr lang="en-US" sz="44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5161" y="4443210"/>
            <a:ext cx="9460970" cy="1082419"/>
          </a:xfrm>
        </p:spPr>
        <p:txBody>
          <a:bodyPr>
            <a:noAutofit/>
          </a:bodyPr>
          <a:lstStyle/>
          <a:p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Department of Computer Science 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University of Wah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5612927" y="1416677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CS-231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Course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3+0 credit hrs.</a:t>
            </a:r>
          </a:p>
          <a:p>
            <a:r>
              <a:rPr lang="en-US" dirty="0"/>
              <a:t>2 sessions per week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Content Placeholder 1"/>
          <p:cNvSpPr>
            <a:spLocks noGrp="1"/>
          </p:cNvSpPr>
          <p:nvPr>
            <p:ph idx="1"/>
          </p:nvPr>
        </p:nvSpPr>
        <p:spPr>
          <a:xfrm>
            <a:off x="2125663" y="2149158"/>
            <a:ext cx="82296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65125" marR="0" lvl="0" indent="-255905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/>
            </a:pPr>
            <a:endParaRPr kumimoji="0" lang="en-GB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65125" marR="0" lvl="0" indent="-255905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None/>
              <a:defRPr/>
            </a:pPr>
            <a:endParaRPr kumimoji="0" lang="en-GB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65125" marR="0" lvl="0" indent="-255905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/>
            </a:pPr>
            <a:endParaRPr kumimoji="0" lang="en-GB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65125" marR="0" lvl="0" indent="-255905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None/>
              <a:defRPr/>
            </a:pPr>
            <a:endParaRPr kumimoji="0" lang="en-US" altLang="en-US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  <a:sp3d prstMaterial="plastic"/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GB" sz="41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Course Administration</a:t>
            </a:r>
            <a:endParaRPr kumimoji="0" lang="en-US" sz="41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3316" name="Date Placeholder 3"/>
          <p:cNvSpPr txBox="1"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anchor="b" anchorCtr="0"/>
          <a:lstStyle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000" dirty="0">
              <a:latin typeface="Times New Roman" panose="02020603050405020304" pitchFamily="18" charset="0"/>
            </a:endParaRPr>
          </a:p>
        </p:txBody>
      </p:sp>
      <p:sp>
        <p:nvSpPr>
          <p:cNvPr id="13317" name="Footer Placeholder 4"/>
          <p:cNvSpPr txBox="1">
            <a:spLocks noGrp="1"/>
          </p:cNvSpPr>
          <p:nvPr>
            <p:ph type="ftr" sz="quarter" idx="11"/>
          </p:nvPr>
        </p:nvSpPr>
        <p:spPr>
          <a:xfrm>
            <a:off x="5903913" y="6408738"/>
            <a:ext cx="2351087" cy="365125"/>
          </a:xfrm>
          <a:noFill/>
          <a:ln>
            <a:noFill/>
          </a:ln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000" dirty="0">
              <a:latin typeface="Times New Roman" panose="02020603050405020304" pitchFamily="18" charset="0"/>
            </a:endParaRPr>
          </a:p>
        </p:txBody>
      </p:sp>
      <p:sp>
        <p:nvSpPr>
          <p:cNvPr id="13318" name="Slide Number Placeholder 5"/>
          <p:cNvSpPr txBox="1">
            <a:spLocks noGrp="1"/>
          </p:cNvSpPr>
          <p:nvPr>
            <p:ph type="sldNum" sz="quarter" idx="12"/>
          </p:nvPr>
        </p:nvSpPr>
        <p:spPr>
          <a:xfrm>
            <a:off x="10171113" y="6408738"/>
            <a:ext cx="366712" cy="365125"/>
          </a:xfrm>
          <a:noFill/>
          <a:ln>
            <a:noFill/>
          </a:ln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>
                <a:latin typeface="Times New Roman" panose="02020603050405020304" pitchFamily="18" charset="0"/>
              </a:rPr>
              <a:t>3</a:t>
            </a:fld>
            <a:endParaRPr lang="en-US" altLang="en-US" sz="1000" dirty="0">
              <a:latin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339662" y="2380814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chemeClr val="tx1">
                    <a:alpha val="55000"/>
                  </a:schemeClr>
                </a:solidFill>
              </a:rPr>
              <a:t>Instructor: Sadia </a:t>
            </a:r>
            <a:r>
              <a:rPr lang="en-GB" sz="2400" dirty="0" err="1">
                <a:solidFill>
                  <a:schemeClr val="tx1">
                    <a:alpha val="55000"/>
                  </a:schemeClr>
                </a:solidFill>
              </a:rPr>
              <a:t>Waheed</a:t>
            </a:r>
            <a:br>
              <a:rPr lang="en-GB" sz="2400" dirty="0">
                <a:solidFill>
                  <a:schemeClr val="tx1">
                    <a:alpha val="55000"/>
                  </a:schemeClr>
                </a:solidFill>
              </a:rPr>
            </a:br>
            <a:r>
              <a:rPr lang="en-GB" dirty="0">
                <a:solidFill>
                  <a:schemeClr val="tx1">
                    <a:alpha val="55000"/>
                  </a:schemeClr>
                </a:solidFill>
              </a:rPr>
              <a:t>(Lecturer, </a:t>
            </a:r>
            <a:r>
              <a:rPr lang="en-GB" dirty="0" err="1">
                <a:solidFill>
                  <a:schemeClr val="tx1">
                    <a:alpha val="55000"/>
                  </a:schemeClr>
                </a:solidFill>
              </a:rPr>
              <a:t>Deptt</a:t>
            </a:r>
            <a:r>
              <a:rPr lang="en-GB" dirty="0">
                <a:solidFill>
                  <a:schemeClr val="tx1">
                    <a:alpha val="55000"/>
                  </a:schemeClr>
                </a:solidFill>
              </a:rPr>
              <a:t> of Computer Science, University of Wah, Wah Cantt)</a:t>
            </a:r>
          </a:p>
          <a:p>
            <a:pPr marL="82155" indent="0">
              <a:buNone/>
              <a:defRPr/>
            </a:pPr>
            <a:endParaRPr lang="en-GB" sz="2400" dirty="0">
              <a:solidFill>
                <a:schemeClr val="tx1">
                  <a:alpha val="55000"/>
                </a:schemeClr>
              </a:solidFill>
            </a:endParaRPr>
          </a:p>
          <a:p>
            <a:pPr>
              <a:defRPr/>
            </a:pPr>
            <a:r>
              <a:rPr lang="en-GB" sz="2400" dirty="0">
                <a:solidFill>
                  <a:schemeClr val="tx1">
                    <a:alpha val="55000"/>
                  </a:schemeClr>
                </a:solidFill>
              </a:rPr>
              <a:t>Contact Information: </a:t>
            </a:r>
          </a:p>
          <a:p>
            <a:pPr>
              <a:defRPr/>
            </a:pPr>
            <a:r>
              <a:rPr lang="en-GB" dirty="0" err="1">
                <a:solidFill>
                  <a:schemeClr val="tx1">
                    <a:alpha val="55000"/>
                  </a:schemeClr>
                </a:solidFill>
              </a:rPr>
              <a:t>Sadia.waheed@u</a:t>
            </a:r>
            <a:r>
              <a:rPr lang="en-GB" dirty="0" err="1">
                <a:solidFill>
                  <a:schemeClr val="tx1">
                    <a:alpha val="55000"/>
                  </a:schemeClr>
                </a:solidFill>
                <a:hlinkClick r:id="rId2"/>
              </a:rPr>
              <a:t>ow.edu.pk</a:t>
            </a:r>
            <a:endParaRPr lang="en-GB" dirty="0">
              <a:solidFill>
                <a:schemeClr val="tx1">
                  <a:alpha val="5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731520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COURSE OBJECTIVES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41349" y="1953219"/>
            <a:ext cx="10766738" cy="393192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dirty="0"/>
              <a:t>At the completion you will be able to: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000" dirty="0"/>
          </a:p>
          <a:p>
            <a:pPr lvl="0" algn="just">
              <a:lnSpc>
                <a:spcPct val="150000"/>
              </a:lnSpc>
            </a:pPr>
            <a:r>
              <a:rPr lang="en-US" sz="2000" dirty="0"/>
              <a:t>Develop an understanding of project management, software process models and the ability to select the suitable model to use in software development.</a:t>
            </a:r>
          </a:p>
          <a:p>
            <a:pPr lvl="0" algn="just">
              <a:lnSpc>
                <a:spcPct val="150000"/>
              </a:lnSpc>
            </a:pPr>
            <a:r>
              <a:rPr lang="en-US" sz="2000" dirty="0"/>
              <a:t>Develop an understanding of requirements engineering process and distinguish between different types of requirements and testing.</a:t>
            </a:r>
          </a:p>
          <a:p>
            <a:pPr lvl="0" algn="just">
              <a:lnSpc>
                <a:spcPct val="150000"/>
              </a:lnSpc>
            </a:pPr>
            <a:r>
              <a:rPr lang="en-US" sz="2000" dirty="0"/>
              <a:t>Able to analyze, design and develop the system models using object oriented methodology (UML) for software development.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Course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9460" y="1623060"/>
            <a:ext cx="10538460" cy="4700905"/>
          </a:xfrm>
        </p:spPr>
        <p:txBody>
          <a:bodyPr>
            <a:noAutofit/>
          </a:bodyPr>
          <a:lstStyle/>
          <a:p>
            <a:r>
              <a:rPr lang="en-US" sz="1500" b="1"/>
              <a:t>Introduction of Software Engineering</a:t>
            </a:r>
          </a:p>
          <a:p>
            <a:r>
              <a:rPr lang="en-US" sz="1500" b="1"/>
              <a:t>Software Processes</a:t>
            </a:r>
          </a:p>
          <a:p>
            <a:r>
              <a:rPr lang="en-US" sz="1500" b="1"/>
              <a:t>Rapid Application Development (RAD)</a:t>
            </a:r>
          </a:p>
          <a:p>
            <a:r>
              <a:rPr lang="en-US" sz="1500" b="1"/>
              <a:t>Agile modeling, Agile manifesto</a:t>
            </a:r>
          </a:p>
          <a:p>
            <a:r>
              <a:rPr lang="en-US" sz="1500" b="1"/>
              <a:t>The Unified Process &amp; CASE Engineering </a:t>
            </a:r>
          </a:p>
          <a:p>
            <a:r>
              <a:rPr lang="en-US" sz="1500" b="1"/>
              <a:t>Agile Software Development</a:t>
            </a:r>
          </a:p>
          <a:p>
            <a:r>
              <a:rPr lang="en-US" sz="1500" b="1"/>
              <a:t>Requirement Engineering</a:t>
            </a:r>
          </a:p>
          <a:p>
            <a:r>
              <a:rPr lang="en-US" sz="1500" b="1"/>
              <a:t>Software Requirements Specification(SRS)</a:t>
            </a:r>
          </a:p>
          <a:p>
            <a:r>
              <a:rPr lang="en-US" sz="1500" b="1"/>
              <a:t>Use Case Diagramming </a:t>
            </a:r>
          </a:p>
          <a:p>
            <a:r>
              <a:rPr lang="en-US" sz="1500" b="1"/>
              <a:t>System Modeling</a:t>
            </a:r>
          </a:p>
          <a:p>
            <a:r>
              <a:rPr lang="en-US" sz="1500" b="1"/>
              <a:t>Component Based Software Engineering</a:t>
            </a:r>
          </a:p>
          <a:p>
            <a:r>
              <a:rPr lang="en-US" sz="1500" b="1"/>
              <a:t>System Engineering</a:t>
            </a:r>
          </a:p>
          <a:p>
            <a:r>
              <a:rPr lang="en-US" sz="1500" b="1"/>
              <a:t>Project Management</a:t>
            </a:r>
          </a:p>
          <a:p>
            <a:r>
              <a:rPr lang="en-US" sz="1500" b="1"/>
              <a:t>Software Testing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Pre-requisite course/s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RECOMMENDED TEXTBOOKS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823" y="2103120"/>
            <a:ext cx="10959921" cy="3931920"/>
          </a:xfrm>
        </p:spPr>
        <p:txBody>
          <a:bodyPr>
            <a:normAutofit fontScale="92500"/>
          </a:bodyPr>
          <a:lstStyle/>
          <a:p>
            <a:pPr>
              <a:defRPr/>
            </a:pPr>
            <a:r>
              <a:rPr lang="en-GB" sz="3200" b="1" i="1" dirty="0"/>
              <a:t>Course Books</a:t>
            </a:r>
          </a:p>
          <a:p>
            <a:pPr marL="700405" lvl="1" indent="-342900">
              <a:defRPr/>
            </a:pPr>
            <a:r>
              <a:rPr lang="en-US" sz="2800" dirty="0"/>
              <a:t>Software Engineering, Ian </a:t>
            </a:r>
            <a:r>
              <a:rPr lang="en-US" sz="2800" dirty="0" err="1"/>
              <a:t>Sommerville</a:t>
            </a:r>
            <a:r>
              <a:rPr lang="en-US" sz="2800" dirty="0"/>
              <a:t> </a:t>
            </a:r>
            <a:r>
              <a:rPr lang="en-GB" sz="2800" i="1" dirty="0"/>
              <a:t>Addison Wesley, 9</a:t>
            </a:r>
            <a:r>
              <a:rPr lang="en-GB" sz="2800" i="1" baseline="30000" dirty="0"/>
              <a:t>th</a:t>
            </a:r>
            <a:r>
              <a:rPr lang="en-GB" sz="2800" i="1" dirty="0"/>
              <a:t> Ed</a:t>
            </a:r>
            <a:endParaRPr lang="en-US" sz="2800" dirty="0"/>
          </a:p>
          <a:p>
            <a:pPr marL="700405" lvl="1" indent="-342900" algn="just">
              <a:defRPr/>
            </a:pPr>
            <a:r>
              <a:rPr lang="en-US" sz="2800" i="1" dirty="0"/>
              <a:t>Software Engineering: A Practitioner's Approach,</a:t>
            </a:r>
            <a:r>
              <a:rPr lang="en-US" sz="2800" dirty="0"/>
              <a:t> Roger Pressman</a:t>
            </a:r>
            <a:endParaRPr lang="en-GB" sz="2800" i="1" dirty="0"/>
          </a:p>
          <a:p>
            <a:pPr>
              <a:defRPr/>
            </a:pPr>
            <a:r>
              <a:rPr lang="en-GB" sz="3200" b="1" i="1" dirty="0"/>
              <a:t>Reference Books</a:t>
            </a:r>
          </a:p>
          <a:p>
            <a:pPr lvl="1">
              <a:defRPr/>
            </a:pPr>
            <a:r>
              <a:rPr lang="en-GB" sz="2800" i="1" dirty="0"/>
              <a:t>Software Engineering, Theory and Practice by </a:t>
            </a:r>
            <a:r>
              <a:rPr lang="en-GB" sz="2800" i="1" dirty="0" err="1"/>
              <a:t>Pfleeger</a:t>
            </a:r>
            <a:r>
              <a:rPr lang="en-GB" sz="2800" i="1" dirty="0"/>
              <a:t>, 3</a:t>
            </a:r>
            <a:r>
              <a:rPr lang="en-GB" sz="2800" i="1" baseline="30000" dirty="0"/>
              <a:t>rd</a:t>
            </a:r>
            <a:r>
              <a:rPr lang="en-GB" sz="2800" i="1" dirty="0"/>
              <a:t> Edition.</a:t>
            </a:r>
            <a:endParaRPr lang="en-US" sz="2800" dirty="0"/>
          </a:p>
          <a:p>
            <a:pPr lvl="1">
              <a:defRPr/>
            </a:pPr>
            <a:r>
              <a:rPr lang="en-US" sz="2800" dirty="0"/>
              <a:t>Applying UML Patterns by Craig </a:t>
            </a:r>
            <a:r>
              <a:rPr lang="en-US" sz="2800" dirty="0" err="1"/>
              <a:t>Larman</a:t>
            </a:r>
            <a:endParaRPr lang="en-US" sz="2800" dirty="0"/>
          </a:p>
          <a:p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558" y="703373"/>
            <a:ext cx="10972800" cy="84345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Grading Criteria</a:t>
            </a:r>
          </a:p>
        </p:txBody>
      </p:sp>
      <p:graphicFrame>
        <p:nvGraphicFramePr>
          <p:cNvPr id="20" name="Chart 19"/>
          <p:cNvGraphicFramePr/>
          <p:nvPr/>
        </p:nvGraphicFramePr>
        <p:xfrm>
          <a:off x="-798490" y="1856935"/>
          <a:ext cx="13239482" cy="47488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0035" y="4675083"/>
            <a:ext cx="9464968" cy="1811865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Cheating &amp; Plagiarism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sz="half" idx="1"/>
          </p:nvPr>
        </p:nvSpPr>
        <p:spPr>
          <a:xfrm>
            <a:off x="647700" y="2190093"/>
            <a:ext cx="9829800" cy="3611617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Arial Narrow" panose="020B0606020202030204" pitchFamily="34" charset="0"/>
              </a:rPr>
              <a:t>Plagiarism is a crime.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Arial Narrow" panose="020B0606020202030204" pitchFamily="34" charset="0"/>
              </a:rPr>
              <a:t>Disciplinary actions may be taken against you.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Arial Narrow" panose="020B0606020202030204" pitchFamily="34" charset="0"/>
              </a:rPr>
              <a:t>Plagiarism checking is not a big deal in the field of computer science.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Arial Narrow" panose="020B0606020202030204" pitchFamily="34" charset="0"/>
              </a:rPr>
              <a:t>Plagiarized tasks/assignments will be rejected on spot.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31304" y="3604591"/>
          <a:ext cx="11714922" cy="3140766"/>
        </p:xfrm>
        <a:graphic>
          <a:graphicData uri="http://schemas.openxmlformats.org/drawingml/2006/table">
            <a:tbl>
              <a:tblPr firstRow="1" firstCol="1">
                <a:tableStyleId>{5940675A-B579-460E-94D1-54222C63F5DA}</a:tableStyleId>
              </a:tblPr>
              <a:tblGrid>
                <a:gridCol w="11714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4076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304" y="365760"/>
            <a:ext cx="11471490" cy="2814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6627" y="3365965"/>
            <a:ext cx="6264166" cy="106680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Quizzes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8294" y="4432765"/>
            <a:ext cx="5975362" cy="2425235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Arial Narrow" panose="020B0606020202030204" pitchFamily="34" charset="0"/>
              </a:rPr>
              <a:t>Assignments will be due at the beginning of the class. Under normal circumstances, late work will not be accepted. </a:t>
            </a: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Students are expected to do their own assignments.</a:t>
            </a:r>
          </a:p>
          <a:p>
            <a:pPr algn="just"/>
            <a:r>
              <a:rPr lang="en-US" sz="2000" dirty="0">
                <a:solidFill>
                  <a:srgbClr val="FFFF00"/>
                </a:solidFill>
                <a:latin typeface="Arial Narrow" panose="020B0606020202030204" pitchFamily="34" charset="0"/>
              </a:rPr>
              <a:t>Plagiarism</a:t>
            </a:r>
            <a:r>
              <a:rPr lang="en-US" sz="2000" dirty="0">
                <a:latin typeface="Arial Narrow" panose="020B0606020202030204" pitchFamily="34" charset="0"/>
              </a:rPr>
              <a:t> will be observed strictly.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1229710" y="3491984"/>
            <a:ext cx="5023946" cy="814762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/>
              <a:t>Assignments</a:t>
            </a:r>
          </a:p>
        </p:txBody>
      </p:sp>
      <p:sp>
        <p:nvSpPr>
          <p:cNvPr id="7" name="Content Placeholder 2"/>
          <p:cNvSpPr txBox="1"/>
          <p:nvPr/>
        </p:nvSpPr>
        <p:spPr>
          <a:xfrm>
            <a:off x="6253657" y="4432765"/>
            <a:ext cx="5436596" cy="11875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5905" algn="l" rtl="0" eaLnBrk="1" latinLnBrk="0" hangingPunct="1">
              <a:spcBef>
                <a:spcPts val="300"/>
              </a:spcBef>
              <a:buClr>
                <a:schemeClr val="accent3">
                  <a:lumMod val="75000"/>
                </a:schemeClr>
              </a:buClr>
              <a:buFont typeface="Georgia" panose="02040502050405020303"/>
              <a:buChar char="•"/>
              <a:defRPr kumimoji="0"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58495" indent="-247015" algn="l" rtl="0" eaLnBrk="1" latinLnBrk="0" hangingPunct="1">
              <a:spcBef>
                <a:spcPts val="300"/>
              </a:spcBef>
              <a:buClr>
                <a:schemeClr val="accent2">
                  <a:lumMod val="75000"/>
                </a:schemeClr>
              </a:buClr>
              <a:buFont typeface="Georgia" panose="02040502050405020303"/>
              <a:buChar char="▫"/>
              <a:defRPr kumimoji="0"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3290" indent="-21971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79830" indent="-201295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90015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609090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030095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dirty="0">
                <a:latin typeface="Arial Narrow" panose="020B0606020202030204" pitchFamily="34" charset="0"/>
              </a:rPr>
              <a:t>Surprise/ Announced quizzes to assess the understanding of taught topics.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253656" y="3604591"/>
            <a:ext cx="0" cy="31407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31304" y="4306746"/>
            <a:ext cx="1171492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3927" y="976929"/>
            <a:ext cx="8229600" cy="944562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/>
              <a:t>What is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897746"/>
            <a:ext cx="10363199" cy="3274454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Science (from the Latin </a:t>
            </a:r>
            <a:r>
              <a:rPr lang="en-US" sz="2800" dirty="0" err="1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scientia</a:t>
            </a:r>
            <a:r>
              <a:rPr lang="en-US" sz="28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, 'knowledge'), in the broadest sense, refers to </a:t>
            </a:r>
            <a:r>
              <a:rPr lang="en-US" sz="3200" dirty="0">
                <a:solidFill>
                  <a:srgbClr val="FFC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any systematic knowledge or practice</a:t>
            </a:r>
            <a:r>
              <a:rPr lang="en-US" sz="32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2800" dirty="0"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54483-7D6B-4740-A66F-D41E103379EF}" type="slidenum">
              <a:rPr lang="en-US" smtClean="0"/>
              <a:t>11</a:t>
            </a:fld>
            <a:endParaRPr lang="en-US"/>
          </a:p>
        </p:txBody>
      </p:sp>
      <p:pic>
        <p:nvPicPr>
          <p:cNvPr id="1026" name="Picture 2" descr="C:\Users\pashoo\Desktop\thinking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94749" y="399245"/>
            <a:ext cx="3906879" cy="210384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5327" y="938141"/>
            <a:ext cx="8229600" cy="944562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/>
              <a:t>What is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2631" y="2408349"/>
            <a:ext cx="10744199" cy="3699456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8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Science is the concerted human effort to understand, or to understand better, the history of the</a:t>
            </a:r>
            <a:r>
              <a:rPr lang="en-US" sz="24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natural world and how the natural world works, with observable physical evidence as the basis of that understanding. </a:t>
            </a:r>
          </a:p>
          <a:p>
            <a:pPr algn="just"/>
            <a:endParaRPr lang="en-US" sz="2800" dirty="0"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pPr algn="just"/>
            <a:r>
              <a:rPr lang="en-US" sz="28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It is done through </a:t>
            </a:r>
            <a:r>
              <a:rPr lang="en-US" sz="3200" dirty="0">
                <a:solidFill>
                  <a:srgbClr val="FFC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observation</a:t>
            </a:r>
            <a:r>
              <a:rPr lang="en-US" sz="28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of natural phenomena, and/or through </a:t>
            </a:r>
            <a:r>
              <a:rPr lang="en-US" sz="3200" dirty="0">
                <a:solidFill>
                  <a:srgbClr val="FFC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experimentation</a:t>
            </a:r>
            <a:r>
              <a:rPr lang="en-US" sz="28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that tries to simulate natural processes under controlled conditions.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54483-7D6B-4740-A66F-D41E103379EF}" type="slidenum">
              <a:rPr lang="en-US" smtClean="0"/>
              <a:t>12</a:t>
            </a:fld>
            <a:endParaRPr lang="en-US"/>
          </a:p>
        </p:txBody>
      </p:sp>
      <p:pic>
        <p:nvPicPr>
          <p:cNvPr id="1026" name="Picture 2" descr="C:\Users\pashoo\Desktop\thinking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900374" y="381816"/>
            <a:ext cx="2739100" cy="167880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8935" y="758976"/>
            <a:ext cx="8229600" cy="868362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What is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54483-7D6B-4740-A66F-D41E103379EF}" type="slidenum">
              <a:rPr lang="en-US" smtClean="0"/>
              <a:t>13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16864" y="1905000"/>
            <a:ext cx="10460736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Engineering is applied science.</a:t>
            </a:r>
          </a:p>
          <a:p>
            <a:pPr marL="342900" indent="-342900" algn="just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sz="3200" dirty="0"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Engineering is the application of science for practical purposes.</a:t>
            </a:r>
          </a:p>
          <a:p>
            <a:pPr marL="342900" indent="-342900" algn="just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sz="3200" dirty="0"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Engineers put theory into practice.</a:t>
            </a:r>
          </a:p>
          <a:p>
            <a:pPr algn="just">
              <a:lnSpc>
                <a:spcPct val="80000"/>
              </a:lnSpc>
            </a:pPr>
            <a:endParaRPr lang="en-US" sz="3200" dirty="0"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“Engineering can be defined as the application of practical and scientific knowledge to the solving of a problem through the use of methodological process”.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812719"/>
          </a:xfrm>
        </p:spPr>
        <p:txBody>
          <a:bodyPr>
            <a:normAutofit/>
          </a:bodyPr>
          <a:lstStyle/>
          <a:p>
            <a:pPr algn="ctr"/>
            <a:r>
              <a:rPr lang="en-GB" sz="3600" dirty="0">
                <a:latin typeface="Arial" panose="020B0604020202020204" pitchFamily="34" charset="0"/>
                <a:cs typeface="Arial" panose="020B0604020202020204" pitchFamily="34" charset="0"/>
              </a:rPr>
              <a:t>Science vs Engineering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014194"/>
            <a:ext cx="5257800" cy="4937760"/>
          </a:xfrm>
        </p:spPr>
        <p:txBody>
          <a:bodyPr>
            <a:normAutofit/>
          </a:bodyPr>
          <a:lstStyle/>
          <a:p>
            <a:pPr lvl="1" algn="just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Knowledge</a:t>
            </a:r>
          </a:p>
          <a:p>
            <a:pPr lvl="1" algn="just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Science seeks to explain phenomena through </a:t>
            </a:r>
            <a:r>
              <a:rPr lang="en-GB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theory, hypothesis, and experiment, in an effort to ascertain natural laws.</a:t>
            </a:r>
          </a:p>
          <a:p>
            <a:pPr lvl="2" algn="just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For example, chemistry investigates the structure of chemicals and their interactions.</a:t>
            </a:r>
          </a:p>
          <a:p>
            <a:pPr algn="just"/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529588" y="2053028"/>
            <a:ext cx="4888606" cy="4289523"/>
          </a:xfrm>
        </p:spPr>
        <p:txBody>
          <a:bodyPr>
            <a:normAutofit/>
          </a:bodyPr>
          <a:lstStyle/>
          <a:p>
            <a:pPr lvl="1" algn="just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Application of knowledge</a:t>
            </a:r>
          </a:p>
          <a:p>
            <a:pPr lvl="1" algn="just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Engineering seeks to apply natural laws to the solution of practical problems.</a:t>
            </a:r>
          </a:p>
          <a:p>
            <a:pPr lvl="1" algn="just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endParaRPr lang="en-GB" sz="2400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For example, chemical engineering might use the results of chemistry to come up with a better way of refining gasoline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GB" sz="24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54483-7D6B-4740-A66F-D41E103379E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          Computer Science as a Science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716736"/>
            <a:ext cx="10058400" cy="4937760"/>
          </a:xfrm>
        </p:spPr>
        <p:txBody>
          <a:bodyPr>
            <a:normAutofit/>
          </a:bodyPr>
          <a:lstStyle/>
          <a:p>
            <a:pPr algn="just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Theory</a:t>
            </a:r>
          </a:p>
          <a:p>
            <a:pPr lvl="1" algn="just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Computability, automata, discrete computational structures</a:t>
            </a:r>
          </a:p>
          <a:p>
            <a:pPr lvl="1" algn="just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Algorithm Analysis</a:t>
            </a:r>
          </a:p>
          <a:p>
            <a:pPr algn="just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Hypothesis</a:t>
            </a:r>
          </a:p>
          <a:p>
            <a:pPr lvl="1" algn="just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 a certain algorithm will solve a problem</a:t>
            </a:r>
          </a:p>
          <a:p>
            <a:pPr algn="just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Experiment</a:t>
            </a:r>
          </a:p>
          <a:p>
            <a:pPr lvl="1" algn="just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a program implementing the algorithm</a:t>
            </a:r>
          </a:p>
          <a:p>
            <a:pPr algn="just"/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54483-7D6B-4740-A66F-D41E103379E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279" y="642594"/>
            <a:ext cx="10197921" cy="925857"/>
          </a:xfrm>
        </p:spPr>
        <p:txBody>
          <a:bodyPr>
            <a:normAutofit/>
          </a:bodyPr>
          <a:lstStyle/>
          <a:p>
            <a:pPr algn="ctr"/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     Computer Science and Software   Engineering (Difference)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54483-7D6B-4740-A66F-D41E103379EF}" type="slidenum">
              <a:rPr lang="en-US" smtClean="0"/>
              <a:t>16</a:t>
            </a:fld>
            <a:endParaRPr lang="en-US"/>
          </a:p>
        </p:txBody>
      </p:sp>
      <p:sp>
        <p:nvSpPr>
          <p:cNvPr id="4" name="AutoShape 2"/>
          <p:cNvSpPr>
            <a:spLocks noChangeArrowheads="1"/>
          </p:cNvSpPr>
          <p:nvPr/>
        </p:nvSpPr>
        <p:spPr bwMode="auto">
          <a:xfrm>
            <a:off x="3300414" y="1577975"/>
            <a:ext cx="1874837" cy="553998"/>
          </a:xfrm>
          <a:prstGeom prst="roundRect">
            <a:avLst>
              <a:gd name="adj" fmla="val 171"/>
            </a:avLst>
          </a:prstGeom>
          <a:noFill/>
          <a:ln w="9525">
            <a:solidFill>
              <a:srgbClr val="000000"/>
            </a:solidFill>
            <a:round/>
          </a:ln>
        </p:spPr>
        <p:txBody>
          <a:bodyPr lIns="0" tIns="0" rIns="0" bIns="0" anchor="ctr" anchorCtr="1">
            <a:spAutoFit/>
          </a:bodyPr>
          <a:lstStyle/>
          <a:p>
            <a:pPr>
              <a:buClr>
                <a:srgbClr val="000000"/>
              </a:buClr>
              <a:buSzPct val="45000"/>
              <a:tabLst>
                <a:tab pos="723900" algn="l"/>
                <a:tab pos="1447800" algn="l"/>
              </a:tabLst>
            </a:pPr>
            <a:r>
              <a:rPr lang="en-GB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Computer</a:t>
            </a:r>
          </a:p>
          <a:p>
            <a:pPr>
              <a:buClr>
                <a:srgbClr val="000000"/>
              </a:buClr>
              <a:buSzPct val="45000"/>
              <a:tabLst>
                <a:tab pos="723900" algn="l"/>
                <a:tab pos="1447800" algn="l"/>
              </a:tabLst>
            </a:pPr>
            <a:r>
              <a:rPr lang="en-GB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Science</a:t>
            </a:r>
          </a:p>
        </p:txBody>
      </p:sp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1524000" y="2955925"/>
            <a:ext cx="1697038" cy="755690"/>
          </a:xfrm>
          <a:prstGeom prst="roundRect">
            <a:avLst>
              <a:gd name="adj" fmla="val 18644"/>
            </a:avLst>
          </a:prstGeom>
          <a:noFill/>
          <a:ln w="9525">
            <a:solidFill>
              <a:srgbClr val="000000"/>
            </a:solidFill>
            <a:round/>
          </a:ln>
        </p:spPr>
        <p:txBody>
          <a:bodyPr wrap="square" lIns="0" tIns="0" rIns="0" bIns="0" anchor="ctr" anchorCtr="1">
            <a:spAutoFit/>
          </a:bodyPr>
          <a:lstStyle/>
          <a:p>
            <a:pPr>
              <a:buClr>
                <a:srgbClr val="000000"/>
              </a:buClr>
              <a:buSzPct val="45000"/>
              <a:tabLst>
                <a:tab pos="723900" algn="l"/>
                <a:tab pos="1447800" algn="l"/>
              </a:tabLst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Theory of</a:t>
            </a:r>
          </a:p>
          <a:p>
            <a:pPr>
              <a:buClr>
                <a:srgbClr val="000000"/>
              </a:buClr>
              <a:buSzPct val="45000"/>
              <a:tabLst>
                <a:tab pos="723900" algn="l"/>
                <a:tab pos="1447800" algn="l"/>
              </a:tabLst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Computation</a:t>
            </a: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3413125" y="2946400"/>
            <a:ext cx="1752600" cy="1123712"/>
          </a:xfrm>
          <a:prstGeom prst="roundRect">
            <a:avLst>
              <a:gd name="adj" fmla="val 16565"/>
            </a:avLst>
          </a:prstGeom>
          <a:noFill/>
          <a:ln w="9525">
            <a:solidFill>
              <a:srgbClr val="000000"/>
            </a:solidFill>
            <a:round/>
          </a:ln>
        </p:spPr>
        <p:txBody>
          <a:bodyPr lIns="0" tIns="0" rIns="0" bIns="0" anchor="ctr" anchorCtr="1">
            <a:spAutoFit/>
          </a:bodyPr>
          <a:lstStyle/>
          <a:p>
            <a:pPr>
              <a:buClr>
                <a:srgbClr val="000000"/>
              </a:buClr>
              <a:buSzPct val="45000"/>
              <a:tabLst>
                <a:tab pos="723900" algn="l"/>
                <a:tab pos="1447800" algn="l"/>
              </a:tabLst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Algorithms &amp;</a:t>
            </a:r>
          </a:p>
          <a:p>
            <a:pPr>
              <a:buClr>
                <a:srgbClr val="000000"/>
              </a:buClr>
              <a:buSzPct val="45000"/>
              <a:tabLst>
                <a:tab pos="723900" algn="l"/>
                <a:tab pos="1447800" algn="l"/>
              </a:tabLst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Data Structures</a:t>
            </a: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5321300" y="2955925"/>
            <a:ext cx="1765300" cy="755690"/>
          </a:xfrm>
          <a:prstGeom prst="roundRect">
            <a:avLst>
              <a:gd name="adj" fmla="val 18644"/>
            </a:avLst>
          </a:prstGeom>
          <a:noFill/>
          <a:ln w="9525">
            <a:solidFill>
              <a:srgbClr val="000000"/>
            </a:solidFill>
            <a:round/>
          </a:ln>
        </p:spPr>
        <p:txBody>
          <a:bodyPr wrap="square" lIns="0" tIns="0" rIns="0" bIns="0" anchor="ctr" anchorCtr="1">
            <a:spAutoFit/>
          </a:bodyPr>
          <a:lstStyle/>
          <a:p>
            <a:pPr>
              <a:buClr>
                <a:srgbClr val="000000"/>
              </a:buClr>
              <a:buSzPct val="45000"/>
              <a:tabLst>
                <a:tab pos="723900" algn="l"/>
                <a:tab pos="1447800" algn="l"/>
              </a:tabLst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Programming</a:t>
            </a:r>
          </a:p>
          <a:p>
            <a:pPr>
              <a:buClr>
                <a:srgbClr val="000000"/>
              </a:buClr>
              <a:buSzPct val="45000"/>
              <a:tabLst>
                <a:tab pos="723900" algn="l"/>
                <a:tab pos="1447800" algn="l"/>
              </a:tabLst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  Languages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8866188" y="2578507"/>
            <a:ext cx="1706562" cy="276999"/>
          </a:xfrm>
          <a:prstGeom prst="roundRect">
            <a:avLst>
              <a:gd name="adj" fmla="val 194"/>
            </a:avLst>
          </a:prstGeom>
          <a:noFill/>
          <a:ln w="9525">
            <a:solidFill>
              <a:srgbClr val="000000"/>
            </a:solidFill>
            <a:round/>
          </a:ln>
        </p:spPr>
        <p:txBody>
          <a:bodyPr lIns="0" tIns="0" rIns="0" bIns="0" anchor="ctr" anchorCtr="1">
            <a:spAutoFit/>
          </a:bodyPr>
          <a:lstStyle/>
          <a:p>
            <a:pPr>
              <a:buClr>
                <a:srgbClr val="000000"/>
              </a:buClr>
              <a:buSzPct val="45000"/>
              <a:tabLst>
                <a:tab pos="723900" algn="l"/>
                <a:tab pos="1447800" algn="l"/>
              </a:tabLst>
            </a:pPr>
            <a:r>
              <a:rPr lang="en-GB"/>
              <a:t>Customer</a:t>
            </a:r>
          </a:p>
        </p:txBody>
      </p:sp>
      <p:sp>
        <p:nvSpPr>
          <p:cNvPr id="10" name="AutoShape 8"/>
          <p:cNvSpPr>
            <a:spLocks noChangeArrowheads="1"/>
          </p:cNvSpPr>
          <p:nvPr/>
        </p:nvSpPr>
        <p:spPr bwMode="auto">
          <a:xfrm>
            <a:off x="3352801" y="4613275"/>
            <a:ext cx="1855787" cy="553998"/>
          </a:xfrm>
          <a:prstGeom prst="roundRect">
            <a:avLst>
              <a:gd name="adj" fmla="val 153"/>
            </a:avLst>
          </a:prstGeom>
          <a:noFill/>
          <a:ln w="9525">
            <a:solidFill>
              <a:srgbClr val="000000"/>
            </a:solidFill>
            <a:round/>
          </a:ln>
        </p:spPr>
        <p:txBody>
          <a:bodyPr lIns="0" tIns="0" rIns="0" bIns="0" anchor="ctr" anchorCtr="1">
            <a:spAutoFit/>
          </a:bodyPr>
          <a:lstStyle/>
          <a:p>
            <a:pPr>
              <a:buClr>
                <a:srgbClr val="000000"/>
              </a:buClr>
              <a:buSzPct val="45000"/>
              <a:tabLst>
                <a:tab pos="723900" algn="l"/>
                <a:tab pos="1447800" algn="l"/>
              </a:tabLst>
            </a:pPr>
            <a:r>
              <a:rPr lang="en-GB" dirty="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Software</a:t>
            </a:r>
          </a:p>
          <a:p>
            <a:pPr>
              <a:buClr>
                <a:srgbClr val="000000"/>
              </a:buClr>
              <a:buSzPct val="45000"/>
              <a:tabLst>
                <a:tab pos="723900" algn="l"/>
                <a:tab pos="1447800" algn="l"/>
              </a:tabLst>
            </a:pPr>
            <a:r>
              <a:rPr lang="en-GB" dirty="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</a:t>
            </a:r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8896351" y="3987710"/>
            <a:ext cx="1647825" cy="314504"/>
          </a:xfrm>
          <a:prstGeom prst="roundRect">
            <a:avLst>
              <a:gd name="adj" fmla="val 21000"/>
            </a:avLst>
          </a:prstGeom>
          <a:noFill/>
          <a:ln w="9525">
            <a:solidFill>
              <a:srgbClr val="000000"/>
            </a:solidFill>
            <a:round/>
          </a:ln>
        </p:spPr>
        <p:txBody>
          <a:bodyPr lIns="0" tIns="0" rIns="0" bIns="0" anchor="ctr" anchorCtr="1">
            <a:spAutoFit/>
          </a:bodyPr>
          <a:lstStyle/>
          <a:p>
            <a:pPr>
              <a:buClr>
                <a:srgbClr val="000000"/>
              </a:buClr>
              <a:buSzPct val="45000"/>
              <a:tabLst>
                <a:tab pos="723900" algn="l"/>
                <a:tab pos="1447800" algn="l"/>
              </a:tabLst>
            </a:pPr>
            <a:r>
              <a:rPr lang="en-GB"/>
              <a:t>Problem</a:t>
            </a:r>
          </a:p>
        </p:txBody>
      </p:sp>
      <p:cxnSp>
        <p:nvCxnSpPr>
          <p:cNvPr id="12" name="AutoShape 10"/>
          <p:cNvCxnSpPr>
            <a:cxnSpLocks noChangeShapeType="1"/>
            <a:stCxn id="5" idx="0"/>
            <a:endCxn id="4" idx="2"/>
          </p:cNvCxnSpPr>
          <p:nvPr/>
        </p:nvCxnSpPr>
        <p:spPr bwMode="auto">
          <a:xfrm rot="5400000" flipH="1" flipV="1">
            <a:off x="2893199" y="1611294"/>
            <a:ext cx="823952" cy="1865313"/>
          </a:xfrm>
          <a:prstGeom prst="straightConnector1">
            <a:avLst/>
          </a:prstGeom>
          <a:noFill/>
          <a:ln w="45720">
            <a:solidFill>
              <a:srgbClr val="000000"/>
            </a:solidFill>
            <a:round/>
            <a:headEnd type="triangle" w="med" len="med"/>
          </a:ln>
        </p:spPr>
      </p:cxnSp>
      <p:cxnSp>
        <p:nvCxnSpPr>
          <p:cNvPr id="13" name="AutoShape 11"/>
          <p:cNvCxnSpPr>
            <a:cxnSpLocks noChangeShapeType="1"/>
            <a:stCxn id="6" idx="0"/>
            <a:endCxn id="4" idx="2"/>
          </p:cNvCxnSpPr>
          <p:nvPr/>
        </p:nvCxnSpPr>
        <p:spPr bwMode="auto">
          <a:xfrm rot="16200000" flipV="1">
            <a:off x="3856417" y="2513391"/>
            <a:ext cx="814427" cy="51593"/>
          </a:xfrm>
          <a:prstGeom prst="straightConnector1">
            <a:avLst/>
          </a:prstGeom>
          <a:noFill/>
          <a:ln w="45720">
            <a:solidFill>
              <a:srgbClr val="000000"/>
            </a:solidFill>
            <a:round/>
            <a:headEnd type="triangle" w="med" len="med"/>
          </a:ln>
        </p:spPr>
      </p:cxnSp>
      <p:cxnSp>
        <p:nvCxnSpPr>
          <p:cNvPr id="14" name="AutoShape 12"/>
          <p:cNvCxnSpPr>
            <a:cxnSpLocks noChangeShapeType="1"/>
            <a:stCxn id="7" idx="0"/>
            <a:endCxn id="4" idx="2"/>
          </p:cNvCxnSpPr>
          <p:nvPr/>
        </p:nvCxnSpPr>
        <p:spPr bwMode="auto">
          <a:xfrm rot="16200000" flipV="1">
            <a:off x="4808915" y="1560890"/>
            <a:ext cx="823952" cy="1966118"/>
          </a:xfrm>
          <a:prstGeom prst="straightConnector1">
            <a:avLst/>
          </a:prstGeom>
          <a:noFill/>
          <a:ln w="45720">
            <a:solidFill>
              <a:srgbClr val="000000"/>
            </a:solidFill>
            <a:round/>
            <a:headEnd type="triangle" w="med" len="med"/>
          </a:ln>
        </p:spPr>
      </p:cxnSp>
      <p:cxnSp>
        <p:nvCxnSpPr>
          <p:cNvPr id="15" name="AutoShape 13"/>
          <p:cNvCxnSpPr>
            <a:cxnSpLocks noChangeShapeType="1"/>
            <a:stCxn id="10" idx="0"/>
            <a:endCxn id="5" idx="2"/>
          </p:cNvCxnSpPr>
          <p:nvPr/>
        </p:nvCxnSpPr>
        <p:spPr bwMode="auto">
          <a:xfrm rot="16200000" flipV="1">
            <a:off x="2875777" y="3208358"/>
            <a:ext cx="901660" cy="1908175"/>
          </a:xfrm>
          <a:prstGeom prst="straightConnector1">
            <a:avLst/>
          </a:prstGeom>
          <a:noFill/>
          <a:ln w="45720">
            <a:solidFill>
              <a:srgbClr val="000000"/>
            </a:solidFill>
            <a:round/>
            <a:headEnd type="triangle" w="med" len="med"/>
          </a:ln>
        </p:spPr>
      </p:cxnSp>
      <p:cxnSp>
        <p:nvCxnSpPr>
          <p:cNvPr id="16" name="AutoShape 14"/>
          <p:cNvCxnSpPr>
            <a:cxnSpLocks noChangeShapeType="1"/>
            <a:stCxn id="6" idx="2"/>
            <a:endCxn id="10" idx="0"/>
          </p:cNvCxnSpPr>
          <p:nvPr/>
        </p:nvCxnSpPr>
        <p:spPr bwMode="auto">
          <a:xfrm rot="5400000">
            <a:off x="4013480" y="4337329"/>
            <a:ext cx="543163" cy="8731"/>
          </a:xfrm>
          <a:prstGeom prst="straightConnector1">
            <a:avLst/>
          </a:prstGeom>
          <a:noFill/>
          <a:ln w="4572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17" name="AutoShape 15"/>
          <p:cNvCxnSpPr>
            <a:cxnSpLocks noChangeShapeType="1"/>
            <a:stCxn id="7" idx="2"/>
            <a:endCxn id="10" idx="0"/>
          </p:cNvCxnSpPr>
          <p:nvPr/>
        </p:nvCxnSpPr>
        <p:spPr bwMode="auto">
          <a:xfrm rot="5400000">
            <a:off x="4791492" y="3200817"/>
            <a:ext cx="901660" cy="1923256"/>
          </a:xfrm>
          <a:prstGeom prst="straightConnector1">
            <a:avLst/>
          </a:prstGeom>
          <a:noFill/>
          <a:ln w="4572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18" name="AutoShape 16"/>
          <p:cNvCxnSpPr>
            <a:cxnSpLocks noChangeShapeType="1"/>
            <a:stCxn id="9" idx="2"/>
            <a:endCxn id="11" idx="0"/>
          </p:cNvCxnSpPr>
          <p:nvPr/>
        </p:nvCxnSpPr>
        <p:spPr bwMode="auto">
          <a:xfrm>
            <a:off x="9719469" y="2855506"/>
            <a:ext cx="794" cy="1132205"/>
          </a:xfrm>
          <a:prstGeom prst="straightConnector1">
            <a:avLst/>
          </a:prstGeom>
          <a:noFill/>
          <a:ln w="4572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19" name="AutoShape 17"/>
          <p:cNvCxnSpPr>
            <a:cxnSpLocks noChangeShapeType="1"/>
            <a:stCxn id="11" idx="2"/>
            <a:endCxn id="10" idx="3"/>
          </p:cNvCxnSpPr>
          <p:nvPr/>
        </p:nvCxnSpPr>
        <p:spPr bwMode="auto">
          <a:xfrm rot="5400000">
            <a:off x="7170395" y="2340406"/>
            <a:ext cx="588060" cy="4511676"/>
          </a:xfrm>
          <a:prstGeom prst="bentConnector2">
            <a:avLst/>
          </a:prstGeom>
          <a:noFill/>
          <a:ln w="4572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20" name="AutoShape 18"/>
          <p:cNvSpPr>
            <a:spLocks noChangeArrowheads="1"/>
          </p:cNvSpPr>
          <p:nvPr/>
        </p:nvSpPr>
        <p:spPr bwMode="auto">
          <a:xfrm>
            <a:off x="2743200" y="5638800"/>
            <a:ext cx="3016250" cy="607576"/>
          </a:xfrm>
          <a:prstGeom prst="roundRect">
            <a:avLst>
              <a:gd name="adj" fmla="val 15310"/>
            </a:avLst>
          </a:prstGeom>
          <a:noFill/>
          <a:ln w="9525">
            <a:solidFill>
              <a:srgbClr val="000000"/>
            </a:solidFill>
            <a:round/>
          </a:ln>
        </p:spPr>
        <p:txBody>
          <a:bodyPr wrap="square" lIns="0" tIns="0" rIns="0" bIns="0" anchor="ctr" anchorCtr="1">
            <a:spAutoFit/>
          </a:bodyPr>
          <a:lstStyle/>
          <a:p>
            <a:pPr>
              <a:buClr>
                <a:srgbClr val="000000"/>
              </a:buClr>
              <a:buSzPct val="45000"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Tools and Techniques</a:t>
            </a:r>
          </a:p>
          <a:p>
            <a:pPr>
              <a:buClr>
                <a:srgbClr val="000000"/>
              </a:buClr>
              <a:buSzPct val="45000"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   to Solve Problem</a:t>
            </a:r>
          </a:p>
        </p:txBody>
      </p:sp>
      <p:cxnSp>
        <p:nvCxnSpPr>
          <p:cNvPr id="21" name="AutoShape 19"/>
          <p:cNvCxnSpPr>
            <a:cxnSpLocks noChangeShapeType="1"/>
            <a:stCxn id="10" idx="2"/>
            <a:endCxn id="20" idx="0"/>
          </p:cNvCxnSpPr>
          <p:nvPr/>
        </p:nvCxnSpPr>
        <p:spPr bwMode="auto">
          <a:xfrm flipH="1">
            <a:off x="4251486" y="5167274"/>
            <a:ext cx="29210" cy="471805"/>
          </a:xfrm>
          <a:prstGeom prst="straightConnector1">
            <a:avLst/>
          </a:prstGeom>
          <a:noFill/>
          <a:ln w="45720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32" name="TextBox 31"/>
          <p:cNvSpPr txBox="1"/>
          <p:nvPr/>
        </p:nvSpPr>
        <p:spPr>
          <a:xfrm>
            <a:off x="8728869" y="1970613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 Customers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What is Software?</a:t>
            </a:r>
            <a:endParaRPr lang="en-US" sz="360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It is general term for various kinds of programs used to operate computers and related devices.</a:t>
            </a:r>
          </a:p>
          <a:p>
            <a:endParaRPr lang="en-US" sz="3200" dirty="0"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r>
              <a:rPr lang="en-US" sz="32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Program is set of instructions.</a:t>
            </a:r>
          </a:p>
          <a:p>
            <a:endParaRPr lang="en-US" sz="3200" dirty="0"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r>
              <a:rPr lang="en-US" sz="3200" dirty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Software is set of programs.</a:t>
            </a:r>
          </a:p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54483-7D6B-4740-A66F-D41E103379E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What is Software?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Computer programs and associated documentation. </a:t>
            </a:r>
          </a:p>
          <a:p>
            <a:r>
              <a:rPr lang="en-US" sz="2400" dirty="0"/>
              <a:t>Software products may be developed for a particular customer or may be developed for a general market </a:t>
            </a:r>
            <a:br>
              <a:rPr lang="en-US" sz="2400" dirty="0"/>
            </a:b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9831" y="1041839"/>
            <a:ext cx="10058400" cy="1371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What are the attributes of good software?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9831" y="2926080"/>
            <a:ext cx="10058400" cy="3931920"/>
          </a:xfrm>
        </p:spPr>
        <p:txBody>
          <a:bodyPr>
            <a:normAutofit/>
          </a:bodyPr>
          <a:lstStyle/>
          <a:p>
            <a:r>
              <a:rPr lang="en-US" sz="2400" dirty="0"/>
              <a:t>Good software should deliver the required functionality and performance to the user and should be maintainable and usable. </a:t>
            </a:r>
            <a:br>
              <a:rPr lang="en-US" sz="2400" dirty="0"/>
            </a:b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957387"/>
            <a:ext cx="10058400" cy="1371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What is software engineering?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702726"/>
            <a:ext cx="10058400" cy="3931920"/>
          </a:xfrm>
        </p:spPr>
        <p:txBody>
          <a:bodyPr/>
          <a:lstStyle/>
          <a:p>
            <a:pPr algn="just"/>
            <a:r>
              <a:rPr lang="en-US" sz="2400" dirty="0"/>
              <a:t>Software engineering is an engineering discipline that is concerned with all aspects of software production. 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8935" y="886495"/>
            <a:ext cx="8229600" cy="990600"/>
          </a:xfrm>
        </p:spPr>
        <p:txBody>
          <a:bodyPr>
            <a:normAutofit/>
          </a:bodyPr>
          <a:lstStyle/>
          <a:p>
            <a:pPr algn="ctr"/>
            <a:r>
              <a:rPr lang="en-GB" sz="3600" dirty="0">
                <a:latin typeface="Arial" panose="020B0604020202020204" pitchFamily="34" charset="0"/>
                <a:cs typeface="Arial" panose="020B0604020202020204" pitchFamily="34" charset="0"/>
              </a:rPr>
              <a:t> Definition of Software Engineering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6864" y="2356834"/>
            <a:ext cx="10384536" cy="3190526"/>
          </a:xfrm>
        </p:spPr>
        <p:txBody>
          <a:bodyPr>
            <a:normAutofit/>
          </a:bodyPr>
          <a:lstStyle/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The process of solving customers’ problems by the systematic development and evolution of large, high-quality software systems within cost, time and other constraints.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54483-7D6B-4740-A66F-D41E103379EF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/>
              <a:t>Software Project Success Triangle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54483-7D6B-4740-A66F-D41E103379EF}" type="slidenum">
              <a:rPr lang="en-US" smtClean="0"/>
              <a:t>22</a:t>
            </a:fld>
            <a:endParaRPr lang="en-US"/>
          </a:p>
        </p:txBody>
      </p:sp>
      <p:sp>
        <p:nvSpPr>
          <p:cNvPr id="6" name="Isosceles Triangle 5"/>
          <p:cNvSpPr/>
          <p:nvPr/>
        </p:nvSpPr>
        <p:spPr>
          <a:xfrm>
            <a:off x="4305300" y="1676400"/>
            <a:ext cx="3581400" cy="2971800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 rot="18086440">
            <a:off x="3959477" y="2743199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Budget</a:t>
            </a:r>
          </a:p>
        </p:txBody>
      </p:sp>
      <p:sp>
        <p:nvSpPr>
          <p:cNvPr id="8" name="TextBox 7"/>
          <p:cNvSpPr txBox="1"/>
          <p:nvPr/>
        </p:nvSpPr>
        <p:spPr>
          <a:xfrm rot="3363971">
            <a:off x="6300255" y="2812000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08761" y="4648200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08761" y="3236283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Success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6620" y="2362200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Failure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032338"/>
            <a:ext cx="10058400" cy="1371600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What are the fundamental software engineering activities? 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403938"/>
            <a:ext cx="10058400" cy="3931920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Software Specification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Software Development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Software Validation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Software Evolution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28" y="2476017"/>
            <a:ext cx="5910215" cy="31861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942397"/>
            <a:ext cx="10058400" cy="1371600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What is the difference between software engineering and computer science? 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627776"/>
            <a:ext cx="10058400" cy="39319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Computer science focuses on theory and fundamentals where as software engineering is concerned with the practicalities of developing and delivering useful software. </a:t>
            </a:r>
            <a:br>
              <a:rPr lang="en-US" sz="2400" dirty="0"/>
            </a:b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What is the difference between software engineering and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327972"/>
            <a:ext cx="10058400" cy="3931920"/>
          </a:xfrm>
        </p:spPr>
        <p:txBody>
          <a:bodyPr/>
          <a:lstStyle/>
          <a:p>
            <a:pPr algn="just"/>
            <a:r>
              <a:rPr lang="en-US" dirty="0"/>
              <a:t>Software Engineering  comprises designing, implementing, testing, and documenting, and maintaining software. In software engineering, the focus is to ensure that software is built and maintained long-term. Software engineers, therefore, ensure that they get all the foundations that involve building software right. Whereas</a:t>
            </a:r>
          </a:p>
          <a:p>
            <a:pPr algn="just"/>
            <a:r>
              <a:rPr lang="en-US" dirty="0"/>
              <a:t>Artificial intelligence is quite different, as it is a branch of computer science that involves creating machines that can simulate human-like intelligence due to a number of data and models encrypted into these machines.</a:t>
            </a:r>
          </a:p>
          <a:p>
            <a:pPr algn="just"/>
            <a:r>
              <a:rPr lang="en-US" dirty="0"/>
              <a:t>AI is one branch of computer science that attempts to make computers think like humans, including expert systems, speech recognition, natural language processing, and machine vision.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942397"/>
            <a:ext cx="10058400" cy="1371600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What are the key challenges facing software engineering? 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567815"/>
            <a:ext cx="10058400" cy="393192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Coping with increasing diversity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Demands for reduced delivery times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Developing trustworthy software</a:t>
            </a:r>
            <a:br>
              <a:rPr lang="en-US" sz="2400" dirty="0"/>
            </a:b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017348"/>
            <a:ext cx="10058400" cy="13716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/>
              <a:t>What are the best software engineering techniques and methods?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388948"/>
            <a:ext cx="10058400" cy="3931920"/>
          </a:xfrm>
        </p:spPr>
        <p:txBody>
          <a:bodyPr>
            <a:normAutofit/>
          </a:bodyPr>
          <a:lstStyle/>
          <a:p>
            <a:r>
              <a:rPr lang="en-US" sz="2000" dirty="0"/>
              <a:t>While all software projects have to be professionally managed and developed, different techniques are appropriate for different types of system. </a:t>
            </a:r>
          </a:p>
          <a:p>
            <a:pPr algn="just"/>
            <a:endParaRPr lang="en-US" sz="2000" dirty="0"/>
          </a:p>
          <a:p>
            <a:r>
              <a:rPr lang="en-US" sz="2000" dirty="0"/>
              <a:t>For example,</a:t>
            </a:r>
            <a:br>
              <a:rPr lang="en-US" sz="2000" dirty="0"/>
            </a:br>
            <a:r>
              <a:rPr lang="en-US" sz="2000" dirty="0"/>
              <a:t>Games should always be developed using a series of prototypes whereas safety critical control systems require a complete and analyzable specification to be developed.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You can’t, therefore, say that one method is better than another. </a:t>
            </a:r>
            <a:br>
              <a:rPr lang="en-US" sz="2000" dirty="0"/>
            </a:b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Savon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26</TotalTime>
  <Words>1263</Words>
  <Application>Microsoft Macintosh PowerPoint</Application>
  <PresentationFormat>Widescreen</PresentationFormat>
  <Paragraphs>183</Paragraphs>
  <Slides>27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MS PGothic</vt:lpstr>
      <vt:lpstr>Arial</vt:lpstr>
      <vt:lpstr>Arial Narrow</vt:lpstr>
      <vt:lpstr>Calibri</vt:lpstr>
      <vt:lpstr>Century Gothic</vt:lpstr>
      <vt:lpstr>Georgia</vt:lpstr>
      <vt:lpstr>Times New Roman</vt:lpstr>
      <vt:lpstr>Wingdings</vt:lpstr>
      <vt:lpstr>Wingdings 3</vt:lpstr>
      <vt:lpstr>Savon</vt:lpstr>
      <vt:lpstr>Software Engineering  </vt:lpstr>
      <vt:lpstr>Course Details</vt:lpstr>
      <vt:lpstr>Course Administration</vt:lpstr>
      <vt:lpstr>COURSE OBJECTIVES</vt:lpstr>
      <vt:lpstr>Course Overview</vt:lpstr>
      <vt:lpstr>Pre-requisite course/s</vt:lpstr>
      <vt:lpstr>RECOMMENDED TEXTBOOKS</vt:lpstr>
      <vt:lpstr>Grading Criteria</vt:lpstr>
      <vt:lpstr>Cheating &amp; Plagiarism</vt:lpstr>
      <vt:lpstr>Quizzes</vt:lpstr>
      <vt:lpstr>What is Science</vt:lpstr>
      <vt:lpstr>What is Science</vt:lpstr>
      <vt:lpstr>What is Engineering</vt:lpstr>
      <vt:lpstr>Science vs Engineering</vt:lpstr>
      <vt:lpstr>           Computer Science as a Science</vt:lpstr>
      <vt:lpstr>      Computer Science and Software   Engineering (Difference)</vt:lpstr>
      <vt:lpstr>What is Software?</vt:lpstr>
      <vt:lpstr>What is Software?</vt:lpstr>
      <vt:lpstr>What are the attributes of good software?  </vt:lpstr>
      <vt:lpstr>What is software engineering?  </vt:lpstr>
      <vt:lpstr> Definition of Software Engineering</vt:lpstr>
      <vt:lpstr>Software Project Success Triangle</vt:lpstr>
      <vt:lpstr>What are the fundamental software engineering activities?  </vt:lpstr>
      <vt:lpstr>What is the difference between software engineering and computer science?  </vt:lpstr>
      <vt:lpstr>What is the difference between software engineering and AI?</vt:lpstr>
      <vt:lpstr>What are the key challenges facing software engineering?  </vt:lpstr>
      <vt:lpstr>What are the best software engineering techniques and methods?  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Software Engineering</dc:title>
  <dc:creator>Windows User</dc:creator>
  <cp:lastModifiedBy>Microsoft Office User</cp:lastModifiedBy>
  <cp:revision>62</cp:revision>
  <dcterms:created xsi:type="dcterms:W3CDTF">2021-02-15T05:23:00Z</dcterms:created>
  <dcterms:modified xsi:type="dcterms:W3CDTF">2026-03-11T07:19:35Z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AC6AB2617DA843A687F100E755680B84_12</vt:lpwstr>
  </property>
  <property fmtid="{D5CDD505-2E9C-101B-9397-08002B2CF9AE}" pid="3" name="KSOProductBuildVer">
    <vt:lpwstr>1033-12.2.0.13215</vt:lpwstr>
  </property>
</Properties>
</file>