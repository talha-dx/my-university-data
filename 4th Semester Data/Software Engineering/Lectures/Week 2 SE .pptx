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7"/>
  </p:notesMasterIdLst>
  <p:sldIdLst>
    <p:sldId id="256" r:id="rId2"/>
    <p:sldId id="273" r:id="rId3"/>
    <p:sldId id="258" r:id="rId4"/>
    <p:sldId id="325" r:id="rId5"/>
    <p:sldId id="326" r:id="rId6"/>
    <p:sldId id="327" r:id="rId7"/>
    <p:sldId id="328" r:id="rId8"/>
    <p:sldId id="259" r:id="rId9"/>
    <p:sldId id="260" r:id="rId10"/>
    <p:sldId id="330" r:id="rId11"/>
    <p:sldId id="261" r:id="rId12"/>
    <p:sldId id="322" r:id="rId13"/>
    <p:sldId id="323" r:id="rId14"/>
    <p:sldId id="262" r:id="rId15"/>
    <p:sldId id="324" r:id="rId16"/>
    <p:sldId id="263" r:id="rId17"/>
    <p:sldId id="331" r:id="rId18"/>
    <p:sldId id="332" r:id="rId19"/>
    <p:sldId id="333" r:id="rId20"/>
    <p:sldId id="334" r:id="rId21"/>
    <p:sldId id="335" r:id="rId22"/>
    <p:sldId id="336" r:id="rId23"/>
    <p:sldId id="337" r:id="rId24"/>
    <p:sldId id="339" r:id="rId25"/>
    <p:sldId id="265" r:id="rId26"/>
    <p:sldId id="266" r:id="rId27"/>
    <p:sldId id="267" r:id="rId28"/>
    <p:sldId id="274" r:id="rId29"/>
    <p:sldId id="275" r:id="rId30"/>
    <p:sldId id="340" r:id="rId31"/>
    <p:sldId id="276" r:id="rId32"/>
    <p:sldId id="277" r:id="rId33"/>
    <p:sldId id="278" r:id="rId34"/>
    <p:sldId id="279" r:id="rId35"/>
    <p:sldId id="268"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1" autoAdjust="0"/>
    <p:restoredTop sz="93141" autoAdjust="0"/>
  </p:normalViewPr>
  <p:slideViewPr>
    <p:cSldViewPr snapToGrid="0">
      <p:cViewPr varScale="1">
        <p:scale>
          <a:sx n="78" d="100"/>
          <a:sy n="78" d="100"/>
        </p:scale>
        <p:origin x="192" y="10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9E2398-CBE2-459D-9238-487EA2F76D2C}" type="datetimeFigureOut">
              <a:rPr lang="en-US" smtClean="0"/>
              <a:t>3/10/26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1602C6-7889-42B4-BE02-84F6318ACBAA}" type="slidenum">
              <a:rPr lang="en-US" smtClean="0"/>
              <a:t>‹#›</a:t>
            </a:fld>
            <a:endParaRPr lang="en-US"/>
          </a:p>
        </p:txBody>
      </p:sp>
    </p:spTree>
    <p:extLst>
      <p:ext uri="{BB962C8B-B14F-4D97-AF65-F5344CB8AC3E}">
        <p14:creationId xmlns:p14="http://schemas.microsoft.com/office/powerpoint/2010/main" val="2699910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weibull.com/hotwire/issue21/hottopics21.htm"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www.onupkeep.com/blog/infant-mortality-equipment-failure/"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r>
              <a:rPr lang="en-US" sz="1200" b="0" i="0" u="none" strike="noStrike" kern="1200" baseline="0" dirty="0">
                <a:solidFill>
                  <a:schemeClr val="tx1"/>
                </a:solidFill>
                <a:latin typeface="+mn-lt"/>
                <a:ea typeface="+mn-ea"/>
                <a:cs typeface="+mn-cs"/>
              </a:rPr>
              <a:t>Software engineering</a:t>
            </a:r>
            <a:r>
              <a:rPr lang="en-US" sz="1200" b="1" i="1" u="none" strike="noStrike" kern="1200" baseline="0" dirty="0">
                <a:solidFill>
                  <a:schemeClr val="tx1"/>
                </a:solidFill>
                <a:latin typeface="+mn-lt"/>
                <a:ea typeface="+mn-ea"/>
                <a:cs typeface="+mn-cs"/>
              </a:rPr>
              <a:t> tools </a:t>
            </a:r>
            <a:r>
              <a:rPr lang="en-US" sz="1200" b="0" i="0" u="none" strike="noStrike" kern="1200" baseline="0" dirty="0">
                <a:solidFill>
                  <a:schemeClr val="tx1"/>
                </a:solidFill>
                <a:latin typeface="+mn-lt"/>
                <a:ea typeface="+mn-ea"/>
                <a:cs typeface="+mn-cs"/>
              </a:rPr>
              <a:t>provide automated or semi-automated support for the process and the methods.</a:t>
            </a:r>
          </a:p>
          <a:p>
            <a:pPr algn="just"/>
            <a:r>
              <a:rPr lang="en-US" sz="1200" b="0" i="0" u="none" strike="noStrike" kern="1200" baseline="0" dirty="0">
                <a:solidFill>
                  <a:schemeClr val="tx1"/>
                </a:solidFill>
                <a:latin typeface="+mn-lt"/>
                <a:ea typeface="+mn-ea"/>
                <a:cs typeface="+mn-cs"/>
              </a:rPr>
              <a:t>Software engineering </a:t>
            </a:r>
            <a:r>
              <a:rPr lang="en-US" sz="1200" b="1" i="1" u="none" strike="noStrike" kern="1200" baseline="0" dirty="0">
                <a:solidFill>
                  <a:schemeClr val="tx1"/>
                </a:solidFill>
                <a:latin typeface="+mn-lt"/>
                <a:ea typeface="+mn-ea"/>
                <a:cs typeface="+mn-cs"/>
              </a:rPr>
              <a:t>methods </a:t>
            </a:r>
            <a:r>
              <a:rPr lang="en-US" sz="1200" b="0" i="0" u="none" strike="noStrike" kern="1200" baseline="0" dirty="0">
                <a:solidFill>
                  <a:schemeClr val="tx1"/>
                </a:solidFill>
                <a:latin typeface="+mn-lt"/>
                <a:ea typeface="+mn-ea"/>
                <a:cs typeface="+mn-cs"/>
              </a:rPr>
              <a:t>provide the technical how-</a:t>
            </a:r>
            <a:r>
              <a:rPr lang="en-US" sz="1200" b="0" i="0" u="none" strike="noStrike" kern="1200" baseline="0" dirty="0" err="1">
                <a:solidFill>
                  <a:schemeClr val="tx1"/>
                </a:solidFill>
                <a:latin typeface="+mn-lt"/>
                <a:ea typeface="+mn-ea"/>
                <a:cs typeface="+mn-cs"/>
              </a:rPr>
              <a:t>to’s</a:t>
            </a:r>
            <a:r>
              <a:rPr lang="en-US" sz="1200" b="0" i="0" u="none" strike="noStrike" kern="1200" baseline="0" dirty="0">
                <a:solidFill>
                  <a:schemeClr val="tx1"/>
                </a:solidFill>
                <a:latin typeface="+mn-lt"/>
                <a:ea typeface="+mn-ea"/>
                <a:cs typeface="+mn-cs"/>
              </a:rPr>
              <a:t> for building software.</a:t>
            </a:r>
          </a:p>
          <a:p>
            <a:pPr algn="just"/>
            <a:r>
              <a:rPr lang="en-US" sz="1200" b="0" i="0" u="none" strike="noStrike" kern="1200" baseline="0" dirty="0">
                <a:solidFill>
                  <a:schemeClr val="tx1"/>
                </a:solidFill>
                <a:latin typeface="+mn-lt"/>
                <a:ea typeface="+mn-ea"/>
                <a:cs typeface="+mn-cs"/>
              </a:rPr>
              <a:t>The foundation for software engineering is the </a:t>
            </a:r>
            <a:r>
              <a:rPr lang="en-US" sz="1200" b="1" i="1" u="none" strike="noStrike" kern="1200" baseline="0" dirty="0">
                <a:solidFill>
                  <a:schemeClr val="tx1"/>
                </a:solidFill>
                <a:latin typeface="+mn-lt"/>
                <a:ea typeface="+mn-ea"/>
                <a:cs typeface="+mn-cs"/>
              </a:rPr>
              <a:t>process layer</a:t>
            </a:r>
            <a:r>
              <a:rPr lang="en-US" sz="1200" b="0" i="0" u="none" strike="noStrike" kern="1200" baseline="0" dirty="0">
                <a:solidFill>
                  <a:schemeClr val="tx1"/>
                </a:solidFill>
                <a:latin typeface="+mn-lt"/>
                <a:ea typeface="+mn-ea"/>
                <a:cs typeface="+mn-cs"/>
              </a:rPr>
              <a:t>. The software engineering process is the glue that holds the technology layers together and enables rational and timely development of computer software.</a:t>
            </a:r>
          </a:p>
          <a:p>
            <a:pPr algn="just"/>
            <a:r>
              <a:rPr lang="en-US" sz="1200" b="0" i="0" u="none" strike="noStrike" kern="1200" baseline="0" dirty="0">
                <a:solidFill>
                  <a:schemeClr val="tx1"/>
                </a:solidFill>
                <a:latin typeface="+mn-lt"/>
                <a:ea typeface="+mn-ea"/>
                <a:cs typeface="+mn-cs"/>
              </a:rPr>
              <a:t>The bedrock that supports software engineering is a </a:t>
            </a:r>
            <a:r>
              <a:rPr lang="en-US" sz="1200" b="1" i="1" u="none" strike="noStrike" kern="1200" baseline="0" dirty="0">
                <a:solidFill>
                  <a:schemeClr val="tx1"/>
                </a:solidFill>
                <a:latin typeface="+mn-lt"/>
                <a:ea typeface="+mn-ea"/>
                <a:cs typeface="+mn-cs"/>
              </a:rPr>
              <a:t>quality focus</a:t>
            </a:r>
            <a:r>
              <a:rPr lang="en-US" sz="1200" b="0" i="0" u="none" strike="noStrike" kern="1200" baseline="0"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D88A38B1-D0DC-49DF-A1C1-E1ECBF4BE59F}" type="slidenum">
              <a:rPr lang="en-US" smtClean="0"/>
              <a:t>3</a:t>
            </a:fld>
            <a:endParaRPr lang="en-US"/>
          </a:p>
        </p:txBody>
      </p:sp>
    </p:spTree>
    <p:extLst>
      <p:ext uri="{BB962C8B-B14F-4D97-AF65-F5344CB8AC3E}">
        <p14:creationId xmlns:p14="http://schemas.microsoft.com/office/powerpoint/2010/main" val="2998502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r>
              <a:rPr lang="en-US" sz="1200" b="0" i="0" u="none" strike="noStrike" kern="1200" baseline="0" dirty="0">
                <a:solidFill>
                  <a:schemeClr val="tx1"/>
                </a:solidFill>
                <a:latin typeface="+mn-lt"/>
                <a:ea typeface="+mn-ea"/>
                <a:cs typeface="+mn-cs"/>
              </a:rPr>
              <a:t>The graph shown indicates that hardware exhibits relatively high failure rates early in its life (these failures are often attributable to design or manufacturing defects); defects are corrected and the failure rate drops to a steady-state level (hopefully, quite low) for some period of time. As time passes, however, the failure rate rises again as hardware components suffer from the cumulative effects of dust, vibration, abuse, temperature extremes, and many other environmental maladies. The hardware begins to </a:t>
            </a:r>
            <a:r>
              <a:rPr lang="en-US" sz="1200" b="0" i="1" u="none" strike="noStrike" kern="1200" baseline="0" dirty="0">
                <a:solidFill>
                  <a:schemeClr val="tx1"/>
                </a:solidFill>
                <a:latin typeface="+mn-lt"/>
                <a:ea typeface="+mn-ea"/>
                <a:cs typeface="+mn-cs"/>
              </a:rPr>
              <a:t>wear out.</a:t>
            </a:r>
          </a:p>
          <a:p>
            <a:pPr algn="just"/>
            <a:endParaRPr lang="en-US" sz="1200" b="0" i="1" u="none" strike="noStrike" kern="1200" baseline="0" dirty="0">
              <a:solidFill>
                <a:schemeClr val="tx1"/>
              </a:solidFill>
              <a:latin typeface="+mn-lt"/>
              <a:ea typeface="+mn-ea"/>
              <a:cs typeface="+mn-cs"/>
            </a:endParaRPr>
          </a:p>
          <a:p>
            <a:pPr algn="just"/>
            <a:endParaRPr lang="en-US" sz="1200" b="0" i="1" u="none" strike="noStrike" kern="1200" baseline="0" dirty="0">
              <a:solidFill>
                <a:schemeClr val="tx1"/>
              </a:solidFill>
              <a:latin typeface="+mn-lt"/>
              <a:ea typeface="+mn-ea"/>
              <a:cs typeface="+mn-cs"/>
            </a:endParaRPr>
          </a:p>
          <a:p>
            <a:r>
              <a:rPr lang="en-US" sz="1200" b="0" i="0" kern="1200" dirty="0">
                <a:solidFill>
                  <a:schemeClr val="tx1"/>
                </a:solidFill>
                <a:effectLst/>
                <a:latin typeface="+mn-lt"/>
                <a:ea typeface="+mn-ea"/>
                <a:cs typeface="+mn-cs"/>
              </a:rPr>
              <a:t>A bathtub curve is a visual representation of the failure rate of a product or group of products over time. By plotting the occurrences of failure over time, a bathtub curve maps out three periods that an asset experiences within its lifetime:</a:t>
            </a:r>
          </a:p>
          <a:p>
            <a:r>
              <a:rPr lang="en-US" sz="1200" b="0" i="0" kern="1200" dirty="0">
                <a:solidFill>
                  <a:schemeClr val="tx1"/>
                </a:solidFill>
                <a:effectLst/>
                <a:latin typeface="+mn-lt"/>
                <a:ea typeface="+mn-ea"/>
                <a:cs typeface="+mn-cs"/>
              </a:rPr>
              <a:t>Infant mortality period</a:t>
            </a:r>
          </a:p>
          <a:p>
            <a:r>
              <a:rPr lang="en-US" sz="1200" b="0" i="0" kern="1200" dirty="0">
                <a:solidFill>
                  <a:schemeClr val="tx1"/>
                </a:solidFill>
                <a:effectLst/>
                <a:latin typeface="+mn-lt"/>
                <a:ea typeface="+mn-ea"/>
                <a:cs typeface="+mn-cs"/>
              </a:rPr>
              <a:t>Wear-out period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a:t>
            </a:r>
            <a:r>
              <a:rPr lang="en-US" sz="1200" b="0" i="0" u="none" strike="noStrike" kern="1200" dirty="0">
                <a:solidFill>
                  <a:schemeClr val="tx1"/>
                </a:solidFill>
                <a:effectLst/>
                <a:latin typeface="+mn-lt"/>
                <a:ea typeface="+mn-ea"/>
                <a:cs typeface="+mn-cs"/>
                <a:hlinkClick r:id="rId3"/>
              </a:rPr>
              <a:t>infant mortality</a:t>
            </a:r>
            <a:r>
              <a:rPr lang="en-US" sz="1200" b="0" i="0" kern="1200" dirty="0">
                <a:solidFill>
                  <a:schemeClr val="tx1"/>
                </a:solidFill>
                <a:effectLst/>
                <a:latin typeface="+mn-lt"/>
                <a:ea typeface="+mn-ea"/>
                <a:cs typeface="+mn-cs"/>
              </a:rPr>
              <a:t> period, also known as the early failure period, begins when a product is used for the first time. It is an interval characterized by a decreasing failure rate that starts from a high failure occurrence, quickly decreasing to a lower failure rate, and plateauing.</a:t>
            </a:r>
            <a:r>
              <a:rPr lang="en-US" sz="1200" b="0" i="0" kern="1200" baseline="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4"/>
              </a:rPr>
              <a:t>Failures that occur within this time</a:t>
            </a:r>
            <a:r>
              <a:rPr lang="en-US" sz="1200" b="0" i="0" kern="1200" dirty="0">
                <a:solidFill>
                  <a:schemeClr val="tx1"/>
                </a:solidFill>
                <a:effectLst/>
                <a:latin typeface="+mn-lt"/>
                <a:ea typeface="+mn-ea"/>
                <a:cs typeface="+mn-cs"/>
              </a:rPr>
              <a:t> are usually driven by manufacturing defects or installation issues. Other causes of failure events in this period could be design flaws or improper start-up procedures.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Assets naturally deteriorate over time. The number of failure occurrences that an asset experience expectedly increases after a certain usage period.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wear-out region in the bathtub curve is characterized by this increasing trend of the failure rate. As failure rates increase quickly before the end of an asset life cycle, the bathtub curve slopes sharply upward. Eventually, this leads to the total failure of an asset.</a:t>
            </a:r>
          </a:p>
          <a:p>
            <a:endParaRPr lang="en-US" sz="1200" b="0" i="0" kern="1200" dirty="0">
              <a:solidFill>
                <a:schemeClr val="tx1"/>
              </a:solidFill>
              <a:effectLst/>
              <a:latin typeface="+mn-lt"/>
              <a:ea typeface="+mn-ea"/>
              <a:cs typeface="+mn-cs"/>
            </a:endParaRPr>
          </a:p>
          <a:p>
            <a:pPr algn="just"/>
            <a:endParaRPr lang="en-US" dirty="0"/>
          </a:p>
        </p:txBody>
      </p:sp>
      <p:sp>
        <p:nvSpPr>
          <p:cNvPr id="4" name="Slide Number Placeholder 3"/>
          <p:cNvSpPr>
            <a:spLocks noGrp="1"/>
          </p:cNvSpPr>
          <p:nvPr>
            <p:ph type="sldNum" sz="quarter" idx="10"/>
          </p:nvPr>
        </p:nvSpPr>
        <p:spPr/>
        <p:txBody>
          <a:bodyPr/>
          <a:lstStyle/>
          <a:p>
            <a:fld id="{D88A38B1-D0DC-49DF-A1C1-E1ECBF4BE59F}" type="slidenum">
              <a:rPr lang="en-US" smtClean="0"/>
              <a:t>11</a:t>
            </a:fld>
            <a:endParaRPr lang="en-US"/>
          </a:p>
        </p:txBody>
      </p:sp>
    </p:spTree>
    <p:extLst>
      <p:ext uri="{BB962C8B-B14F-4D97-AF65-F5344CB8AC3E}">
        <p14:creationId xmlns:p14="http://schemas.microsoft.com/office/powerpoint/2010/main" val="7060811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r>
              <a:rPr lang="en-US" sz="1200" b="0" i="0" u="none" strike="noStrike" kern="1200" baseline="0" dirty="0">
                <a:solidFill>
                  <a:schemeClr val="tx1"/>
                </a:solidFill>
                <a:latin typeface="+mn-lt"/>
                <a:ea typeface="+mn-ea"/>
                <a:cs typeface="+mn-cs"/>
              </a:rPr>
              <a:t>Undiscovered defects will cause high failure rates early in the life of a program. However, these are corrected and the curve flattens.</a:t>
            </a:r>
          </a:p>
          <a:p>
            <a:pPr algn="just"/>
            <a:endParaRPr lang="en-US" sz="1200" b="0" i="0" u="none" strike="noStrike" kern="1200" baseline="0" dirty="0">
              <a:solidFill>
                <a:schemeClr val="tx1"/>
              </a:solidFill>
              <a:latin typeface="+mn-lt"/>
              <a:ea typeface="+mn-ea"/>
              <a:cs typeface="+mn-cs"/>
            </a:endParaRPr>
          </a:p>
          <a:p>
            <a:pPr algn="just"/>
            <a:r>
              <a:rPr lang="en-US" sz="1200" b="0" i="0" u="none" strike="noStrike" kern="1200" baseline="0" dirty="0">
                <a:solidFill>
                  <a:schemeClr val="tx1"/>
                </a:solidFill>
                <a:latin typeface="+mn-lt"/>
                <a:ea typeface="+mn-ea"/>
                <a:cs typeface="+mn-cs"/>
              </a:rPr>
              <a:t>During its life, software will undergo change. As changes are made, it is likely that errors will be introduced, causing the failure rate curve to spike as shown in the “actual curve”. </a:t>
            </a:r>
          </a:p>
          <a:p>
            <a:pPr algn="just"/>
            <a:endParaRPr lang="en-US" sz="1200" b="0" i="0" u="none" strike="noStrike" kern="1200" baseline="0" dirty="0">
              <a:solidFill>
                <a:schemeClr val="tx1"/>
              </a:solidFill>
              <a:latin typeface="+mn-lt"/>
              <a:ea typeface="+mn-ea"/>
              <a:cs typeface="+mn-cs"/>
            </a:endParaRPr>
          </a:p>
          <a:p>
            <a:pPr algn="just"/>
            <a:r>
              <a:rPr lang="en-US" sz="1200" b="0" i="0" u="none" strike="noStrike" kern="1200" baseline="0" dirty="0">
                <a:solidFill>
                  <a:schemeClr val="tx1"/>
                </a:solidFill>
                <a:latin typeface="+mn-lt"/>
                <a:ea typeface="+mn-ea"/>
                <a:cs typeface="+mn-cs"/>
              </a:rPr>
              <a:t>Before the curve can return to the original steady-state failure rate, another change is requested, causing the curve to spike again. Slowly, the minimum failure rate level begins to rise—the software is deteriorating due to change.</a:t>
            </a:r>
            <a:endParaRPr lang="en-US" dirty="0"/>
          </a:p>
        </p:txBody>
      </p:sp>
      <p:sp>
        <p:nvSpPr>
          <p:cNvPr id="4" name="Slide Number Placeholder 3"/>
          <p:cNvSpPr>
            <a:spLocks noGrp="1"/>
          </p:cNvSpPr>
          <p:nvPr>
            <p:ph type="sldNum" sz="quarter" idx="10"/>
          </p:nvPr>
        </p:nvSpPr>
        <p:spPr/>
        <p:txBody>
          <a:bodyPr/>
          <a:lstStyle/>
          <a:p>
            <a:fld id="{D88A38B1-D0DC-49DF-A1C1-E1ECBF4BE59F}" type="slidenum">
              <a:rPr lang="en-US" smtClean="0"/>
              <a:t>14</a:t>
            </a:fld>
            <a:endParaRPr lang="en-US"/>
          </a:p>
        </p:txBody>
      </p:sp>
    </p:spTree>
    <p:extLst>
      <p:ext uri="{BB962C8B-B14F-4D97-AF65-F5344CB8AC3E}">
        <p14:creationId xmlns:p14="http://schemas.microsoft.com/office/powerpoint/2010/main" val="3188311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Poliferation</a:t>
            </a:r>
            <a:r>
              <a:rPr lang="en-US" dirty="0"/>
              <a:t> ....</a:t>
            </a:r>
            <a:r>
              <a:rPr lang="en-US" baseline="0" dirty="0"/>
              <a:t> Modification/ Build up </a:t>
            </a:r>
            <a:endParaRPr lang="en-US" dirty="0"/>
          </a:p>
        </p:txBody>
      </p:sp>
      <p:sp>
        <p:nvSpPr>
          <p:cNvPr id="4" name="Slide Number Placeholder 3"/>
          <p:cNvSpPr>
            <a:spLocks noGrp="1"/>
          </p:cNvSpPr>
          <p:nvPr>
            <p:ph type="sldNum" sz="quarter" idx="10"/>
          </p:nvPr>
        </p:nvSpPr>
        <p:spPr/>
        <p:txBody>
          <a:bodyPr/>
          <a:lstStyle/>
          <a:p>
            <a:fld id="{671602C6-7889-42B4-BE02-84F6318ACBAA}" type="slidenum">
              <a:rPr lang="en-US" smtClean="0"/>
              <a:t>25</a:t>
            </a:fld>
            <a:endParaRPr lang="en-US"/>
          </a:p>
        </p:txBody>
      </p:sp>
    </p:spTree>
    <p:extLst>
      <p:ext uri="{BB962C8B-B14F-4D97-AF65-F5344CB8AC3E}">
        <p14:creationId xmlns:p14="http://schemas.microsoft.com/office/powerpoint/2010/main" val="12937497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dirty="0"/>
              <a:t>Reengineering (Chapter 29) </a:t>
            </a:r>
            <a:endParaRPr lang="en-US" dirty="0"/>
          </a:p>
        </p:txBody>
      </p:sp>
      <p:sp>
        <p:nvSpPr>
          <p:cNvPr id="4" name="Slide Number Placeholder 3"/>
          <p:cNvSpPr>
            <a:spLocks noGrp="1"/>
          </p:cNvSpPr>
          <p:nvPr>
            <p:ph type="sldNum" sz="quarter" idx="10"/>
          </p:nvPr>
        </p:nvSpPr>
        <p:spPr/>
        <p:txBody>
          <a:bodyPr/>
          <a:lstStyle/>
          <a:p>
            <a:fld id="{D88A38B1-D0DC-49DF-A1C1-E1ECBF4BE59F}" type="slidenum">
              <a:rPr lang="en-US" smtClean="0"/>
              <a:t>27</a:t>
            </a:fld>
            <a:endParaRPr lang="en-US"/>
          </a:p>
        </p:txBody>
      </p:sp>
    </p:spTree>
    <p:extLst>
      <p:ext uri="{BB962C8B-B14F-4D97-AF65-F5344CB8AC3E}">
        <p14:creationId xmlns:p14="http://schemas.microsoft.com/office/powerpoint/2010/main" val="1148613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interweave</a:t>
            </a:r>
          </a:p>
        </p:txBody>
      </p:sp>
      <p:sp>
        <p:nvSpPr>
          <p:cNvPr id="4" name="Slide Number Placeholder 3"/>
          <p:cNvSpPr>
            <a:spLocks noGrp="1"/>
          </p:cNvSpPr>
          <p:nvPr>
            <p:ph type="sldNum" sz="quarter" idx="10"/>
          </p:nvPr>
        </p:nvSpPr>
        <p:spPr/>
        <p:txBody>
          <a:bodyPr/>
          <a:lstStyle/>
          <a:p>
            <a:fld id="{671602C6-7889-42B4-BE02-84F6318ACBAA}" type="slidenum">
              <a:rPr lang="en-US" smtClean="0"/>
              <a:t>28</a:t>
            </a:fld>
            <a:endParaRPr lang="en-US"/>
          </a:p>
        </p:txBody>
      </p:sp>
    </p:spTree>
    <p:extLst>
      <p:ext uri="{BB962C8B-B14F-4D97-AF65-F5344CB8AC3E}">
        <p14:creationId xmlns:p14="http://schemas.microsoft.com/office/powerpoint/2010/main" val="2136615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71602C6-7889-42B4-BE02-84F6318ACBAA}" type="slidenum">
              <a:rPr lang="en-US" smtClean="0"/>
              <a:t>34</a:t>
            </a:fld>
            <a:endParaRPr lang="en-US"/>
          </a:p>
        </p:txBody>
      </p:sp>
    </p:spTree>
    <p:extLst>
      <p:ext uri="{BB962C8B-B14F-4D97-AF65-F5344CB8AC3E}">
        <p14:creationId xmlns:p14="http://schemas.microsoft.com/office/powerpoint/2010/main" val="18996749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5000"/>
              <a:duotone>
                <a:schemeClr val="accent2">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11" name="Rectangle 10"/>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r>
              <a:rPr lang="en-US"/>
              <a:t>30/10/2014</a:t>
            </a:r>
            <a:endParaRPr lang="en-US" dirty="0"/>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2"/>
                </a:solidFill>
              </a:defRPr>
            </a:lvl1pPr>
          </a:lstStyle>
          <a:p>
            <a:r>
              <a:rPr lang="en-US"/>
              <a:t>Chapter 1 Introduction</a:t>
            </a:r>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2"/>
                </a:solidFill>
              </a:defRPr>
            </a:lvl1pPr>
          </a:lstStyle>
          <a:p>
            <a:fld id="{4FAB73BC-B049-4115-A692-8D63A059BFB8}"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r>
              <a:rPr lang="en-US"/>
              <a:t>30/10/2014</a:t>
            </a:r>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r>
              <a:rPr lang="en-US"/>
              <a:t>Chapter 1 Introduction</a:t>
            </a:r>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a:xfrm>
            <a:off x="0" y="0"/>
            <a:ext cx="12192000" cy="6858000"/>
          </a:xfrm>
          <a:prstGeom prst="rect">
            <a:avLst/>
          </a:prstGeom>
          <a:blipFill dpi="0" rotWithShape="1">
            <a:blip r:embed="rId2">
              <a:alphaModFix amt="40000"/>
              <a:duotone>
                <a:schemeClr val="accent3">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24" name="Rectangle 23"/>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30" name="Rectangle 29"/>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345"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r>
              <a:rPr lang="en-US"/>
              <a:t>30/10/2014</a:t>
            </a:r>
            <a:endParaRPr lang="en-US" dirty="0"/>
          </a:p>
        </p:txBody>
      </p:sp>
      <p:sp>
        <p:nvSpPr>
          <p:cNvPr id="5" name="Footer Placeholder 4"/>
          <p:cNvSpPr>
            <a:spLocks noGrp="1"/>
          </p:cNvSpPr>
          <p:nvPr>
            <p:ph type="ftr" sz="quarter" idx="11"/>
          </p:nvPr>
        </p:nvSpPr>
        <p:spPr>
          <a:xfrm>
            <a:off x="1453896" y="5212080"/>
            <a:ext cx="5907024" cy="228600"/>
          </a:xfrm>
        </p:spPr>
        <p:txBody>
          <a:bodyPr/>
          <a:lstStyle>
            <a:lvl1pPr algn="l">
              <a:defRPr>
                <a:solidFill>
                  <a:schemeClr val="tx2"/>
                </a:solidFill>
              </a:defRPr>
            </a:lvl1pPr>
          </a:lstStyle>
          <a:p>
            <a:r>
              <a:rPr lang="en-US"/>
              <a:t>Chapter 1 Introduction</a:t>
            </a:r>
            <a:endParaRPr lang="en-US" dirty="0"/>
          </a:p>
        </p:txBody>
      </p:sp>
      <p:sp>
        <p:nvSpPr>
          <p:cNvPr id="6" name="Slide Number Placeholder 5"/>
          <p:cNvSpPr>
            <a:spLocks noGrp="1"/>
          </p:cNvSpPr>
          <p:nvPr>
            <p:ph type="sldNum" sz="quarter" idx="12"/>
          </p:nvPr>
        </p:nvSpPr>
        <p:spPr>
          <a:xfrm>
            <a:off x="8604504" y="5212080"/>
            <a:ext cx="2112264" cy="228600"/>
          </a:xfrm>
        </p:spPr>
        <p:txBody>
          <a:bodyPr/>
          <a:lstStyle>
            <a:lvl1pPr>
              <a:defRPr>
                <a:solidFill>
                  <a:schemeClr val="tx2"/>
                </a:solidFill>
              </a:defRPr>
            </a:lvl1pPr>
          </a:lstStyle>
          <a:p>
            <a:fld id="{4FAB73BC-B049-4115-A692-8D63A059BFB8}"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solidFill>
                  <a:schemeClr val="tx2"/>
                </a:solidFill>
              </a:defRPr>
            </a:lvl1pPr>
          </a:lstStyle>
          <a:p>
            <a:r>
              <a:rPr lang="en-US"/>
              <a:t>30/10/2014</a:t>
            </a:r>
            <a:endParaRPr lang="en-US" dirty="0"/>
          </a:p>
        </p:txBody>
      </p:sp>
      <p:sp>
        <p:nvSpPr>
          <p:cNvPr id="6" name="Footer Placeholder 5"/>
          <p:cNvSpPr>
            <a:spLocks noGrp="1"/>
          </p:cNvSpPr>
          <p:nvPr>
            <p:ph type="ftr" sz="quarter" idx="11"/>
          </p:nvPr>
        </p:nvSpPr>
        <p:spPr/>
        <p:txBody>
          <a:bodyPr/>
          <a:lstStyle>
            <a:lvl1pPr>
              <a:defRPr>
                <a:solidFill>
                  <a:schemeClr val="tx2"/>
                </a:solidFill>
              </a:defRPr>
            </a:lvl1pPr>
          </a:lstStyle>
          <a:p>
            <a:r>
              <a:rPr lang="en-US"/>
              <a:t>Chapter 1 Introduction</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solidFill>
                  <a:schemeClr val="tx2"/>
                </a:solidFill>
              </a:defRPr>
            </a:lvl1pPr>
          </a:lstStyle>
          <a:p>
            <a:r>
              <a:rPr lang="en-US"/>
              <a:t>30/10/2014</a:t>
            </a:r>
            <a:endParaRPr lang="en-US" dirty="0"/>
          </a:p>
        </p:txBody>
      </p:sp>
      <p:sp>
        <p:nvSpPr>
          <p:cNvPr id="8" name="Footer Placeholder 7"/>
          <p:cNvSpPr>
            <a:spLocks noGrp="1"/>
          </p:cNvSpPr>
          <p:nvPr>
            <p:ph type="ftr" sz="quarter" idx="11"/>
          </p:nvPr>
        </p:nvSpPr>
        <p:spPr/>
        <p:txBody>
          <a:bodyPr/>
          <a:lstStyle>
            <a:lvl1pPr>
              <a:defRPr>
                <a:solidFill>
                  <a:schemeClr val="tx2"/>
                </a:solidFill>
              </a:defRPr>
            </a:lvl1pPr>
          </a:lstStyle>
          <a:p>
            <a:r>
              <a:rPr lang="en-US"/>
              <a:t>Chapter 1 Introduction</a:t>
            </a:r>
            <a:endParaRPr lang="en-US" dirty="0"/>
          </a:p>
        </p:txBody>
      </p:sp>
      <p:sp>
        <p:nvSpPr>
          <p:cNvPr id="9" name="Slide Number Placeholder 8"/>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tx2"/>
                </a:solidFill>
              </a:defRPr>
            </a:lvl1pPr>
          </a:lstStyle>
          <a:p>
            <a:r>
              <a:rPr lang="en-US"/>
              <a:t>30/10/2014</a:t>
            </a:r>
            <a:endParaRPr lang="en-US" dirty="0"/>
          </a:p>
        </p:txBody>
      </p:sp>
      <p:sp>
        <p:nvSpPr>
          <p:cNvPr id="4" name="Footer Placeholder 3"/>
          <p:cNvSpPr>
            <a:spLocks noGrp="1"/>
          </p:cNvSpPr>
          <p:nvPr>
            <p:ph type="ftr" sz="quarter" idx="11"/>
          </p:nvPr>
        </p:nvSpPr>
        <p:spPr/>
        <p:txBody>
          <a:bodyPr/>
          <a:lstStyle>
            <a:lvl1pPr>
              <a:defRPr>
                <a:solidFill>
                  <a:schemeClr val="tx2"/>
                </a:solidFill>
              </a:defRPr>
            </a:lvl1pPr>
          </a:lstStyle>
          <a:p>
            <a:r>
              <a:rPr lang="en-US"/>
              <a:t>Chapter 1 Introduction</a:t>
            </a:r>
            <a:endParaRPr lang="en-US" dirty="0"/>
          </a:p>
        </p:txBody>
      </p:sp>
      <p:sp>
        <p:nvSpPr>
          <p:cNvPr id="5" name="Slide Number Placeholder 4"/>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r>
              <a:rPr lang="en-US"/>
              <a:t>30/10/2014</a:t>
            </a:r>
            <a:endParaRPr lang="en-US" dirty="0"/>
          </a:p>
        </p:txBody>
      </p:sp>
      <p:sp>
        <p:nvSpPr>
          <p:cNvPr id="3" name="Footer Placeholder 2"/>
          <p:cNvSpPr>
            <a:spLocks noGrp="1"/>
          </p:cNvSpPr>
          <p:nvPr>
            <p:ph type="ftr" sz="quarter" idx="11"/>
          </p:nvPr>
        </p:nvSpPr>
        <p:spPr/>
        <p:txBody>
          <a:bodyPr/>
          <a:lstStyle>
            <a:lvl1pPr>
              <a:defRPr>
                <a:solidFill>
                  <a:schemeClr val="tx2"/>
                </a:solidFill>
              </a:defRPr>
            </a:lvl1pPr>
          </a:lstStyle>
          <a:p>
            <a:r>
              <a:rPr lang="en-US"/>
              <a:t>Chapter 1 Introduction</a:t>
            </a:r>
            <a:endParaRPr lang="en-US" dirty="0"/>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4" name="Rectangle 13"/>
          <p:cNvSpPr/>
          <p:nvPr/>
        </p:nvSpPr>
        <p:spPr>
          <a:xfrm>
            <a:off x="234693" y="237744"/>
            <a:ext cx="8633081"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16" name="Rectangle 15"/>
          <p:cNvSpPr/>
          <p:nvPr/>
        </p:nvSpPr>
        <p:spPr>
          <a:xfrm>
            <a:off x="371856" y="374904"/>
            <a:ext cx="8353044" cy="6108192"/>
          </a:xfrm>
          <a:prstGeom prst="rect">
            <a:avLst/>
          </a:prstGeom>
          <a:solidFill>
            <a:schemeClr val="bg2"/>
          </a:solidFill>
          <a:ln w="6350" cap="sq" cmpd="sng" algn="ctr">
            <a:noFill/>
            <a:prstDash val="solid"/>
            <a:miter lim="800000"/>
          </a:ln>
          <a:effectLst/>
        </p:spPr>
      </p:sp>
      <p:sp>
        <p:nvSpPr>
          <p:cNvPr id="15" name="Rectangle 14"/>
          <p:cNvSpPr/>
          <p:nvPr/>
        </p:nvSpPr>
        <p:spPr>
          <a:xfrm>
            <a:off x="9020386" y="237744"/>
            <a:ext cx="2926080" cy="63825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790575" y="704850"/>
            <a:ext cx="7562850" cy="51435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r>
              <a:rPr lang="en-US"/>
              <a:t>30/10/2014</a:t>
            </a:r>
            <a:endParaRPr lang="en-US" dirty="0"/>
          </a:p>
        </p:txBody>
      </p:sp>
      <p:sp>
        <p:nvSpPr>
          <p:cNvPr id="6" name="Footer Placeholder 5"/>
          <p:cNvSpPr>
            <a:spLocks noGrp="1"/>
          </p:cNvSpPr>
          <p:nvPr>
            <p:ph type="ftr" sz="quarter" idx="11"/>
          </p:nvPr>
        </p:nvSpPr>
        <p:spPr>
          <a:xfrm>
            <a:off x="3439158" y="6214535"/>
            <a:ext cx="5184648" cy="256032"/>
          </a:xfrm>
        </p:spPr>
        <p:txBody>
          <a:bodyPr/>
          <a:lstStyle>
            <a:lvl1pPr algn="r">
              <a:defRPr>
                <a:solidFill>
                  <a:schemeClr val="tx2"/>
                </a:solidFill>
              </a:defRPr>
            </a:lvl1pPr>
          </a:lstStyle>
          <a:p>
            <a:r>
              <a:rPr lang="en-US"/>
              <a:t>Chapter 1 Introduction</a:t>
            </a:r>
            <a:endParaRPr lang="en-US" dirty="0"/>
          </a:p>
        </p:txBody>
      </p:sp>
      <p:sp>
        <p:nvSpPr>
          <p:cNvPr id="7" name="Slide Number Placeholder 6"/>
          <p:cNvSpPr>
            <a:spLocks noGrp="1"/>
          </p:cNvSpPr>
          <p:nvPr>
            <p:ph type="sldNum" sz="quarter" idx="12"/>
          </p:nvPr>
        </p:nvSpPr>
        <p:spPr/>
        <p:txBody>
          <a:bodyPr/>
          <a:lstStyle>
            <a:lvl1pPr>
              <a:defRPr>
                <a:solidFill>
                  <a:schemeClr val="bg2"/>
                </a:solidFill>
              </a:defRPr>
            </a:lvl1pPr>
          </a:lstStyle>
          <a:p>
            <a:fld id="{4FAB73BC-B049-4115-A692-8D63A059BFB8}" type="slidenum">
              <a:rPr lang="en-US" dirty="0"/>
              <a:t>‹#›</a:t>
            </a:fld>
            <a:endParaRPr lang="en-US" dirty="0"/>
          </a:p>
        </p:txBody>
      </p:sp>
      <p:sp>
        <p:nvSpPr>
          <p:cNvPr id="11" name="Rectangle 10"/>
          <p:cNvSpPr/>
          <p:nvPr/>
        </p:nvSpPr>
        <p:spPr>
          <a:xfrm>
            <a:off x="9157546" y="374904"/>
            <a:ext cx="2651760" cy="6108192"/>
          </a:xfrm>
          <a:prstGeom prst="rect">
            <a:avLst/>
          </a:prstGeom>
          <a:noFill/>
          <a:ln w="6350" cap="sq">
            <a:solidFill>
              <a:schemeClr val="tx1">
                <a:lumMod val="65000"/>
                <a:lumOff val="3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tx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157546" y="374904"/>
            <a:ext cx="2651760" cy="6108192"/>
          </a:xfrm>
          <a:prstGeom prst="rect">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601076" cy="6382512"/>
          </a:xfrm>
          <a:solidFill>
            <a:srgbClr val="808080"/>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r>
              <a:rPr lang="en-US"/>
              <a:t>30/10/2014</a:t>
            </a:r>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r>
              <a:rPr lang="en-US"/>
              <a:t>Chapter 1 Introduction</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r>
              <a:rPr lang="en-US"/>
              <a:t>30/10/2014</a:t>
            </a:r>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r>
              <a:rPr lang="en-US"/>
              <a:t>Chapter 1 Introduction</a:t>
            </a:r>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r>
              <a:rPr lang="en-US"/>
              <a:t>30/10/2014</a:t>
            </a:r>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r>
              <a:rPr lang="en-US"/>
              <a:t>Chapter 1 Introduction</a:t>
            </a:r>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8" name="Rectangle 7"/>
          <p:cNvSpPr/>
          <p:nvPr/>
        </p:nvSpPr>
        <p:spPr>
          <a:xfrm>
            <a:off x="371856" y="374904"/>
            <a:ext cx="11448288" cy="6108192"/>
          </a:xfrm>
          <a:prstGeom prst="rect">
            <a:avLst/>
          </a:prstGeom>
          <a:solidFill>
            <a:schemeClr val="bg2"/>
          </a:solidFill>
          <a:ln w="6350" cap="sq" cmpd="sng" algn="ctr">
            <a:no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bg2"/>
                </a:solidFill>
              </a:defRPr>
            </a:lvl1pPr>
          </a:lstStyle>
          <a:p>
            <a:r>
              <a:rPr lang="en-US"/>
              <a:t>30/10/2014</a:t>
            </a:r>
            <a:endParaRPr lang="en-US" dirty="0"/>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bg2"/>
                </a:solidFill>
              </a:defRPr>
            </a:lvl1pPr>
          </a:lstStyle>
          <a:p>
            <a:r>
              <a:rPr lang="en-US"/>
              <a:t>Chapter 1 Introduction</a:t>
            </a:r>
            <a:endParaRPr lang="en-US" dirty="0"/>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bg2"/>
                </a:solidFill>
              </a:defRPr>
            </a:lvl1pPr>
          </a:lstStyle>
          <a:p>
            <a:fld id="{4FAB73BC-B049-4115-A692-8D63A059BFB8}"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2">
            <a:lumMod val="60000"/>
            <a:lumOff val="40000"/>
          </a:schemeClr>
        </a:buClr>
        <a:buFont typeface="Arial" panose="020B0604020202020204" pitchFamily="34"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2">
            <a:lumMod val="60000"/>
            <a:lumOff val="40000"/>
          </a:schemeClr>
        </a:buClr>
        <a:buFont typeface="Arial" panose="020B0604020202020204" pitchFamily="34"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2">
            <a:lumMod val="60000"/>
            <a:lumOff val="40000"/>
          </a:schemeClr>
        </a:buClr>
        <a:buFont typeface="Arial" panose="020B0604020202020204"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2">
            <a:lumMod val="60000"/>
            <a:lumOff val="40000"/>
          </a:schemeClr>
        </a:buClr>
        <a:buFont typeface="Arial" panose="020B0604020202020204"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2">
            <a:lumMod val="60000"/>
            <a:lumOff val="40000"/>
          </a:schemeClr>
        </a:buClr>
        <a:buFont typeface="Arial" panose="020B0604020202020204" pitchFamily="34" charset="0"/>
        <a:buChar char="•"/>
        <a:defRPr sz="1400" kern="1200">
          <a:solidFill>
            <a:schemeClr val="tx1"/>
          </a:solidFill>
          <a:latin typeface="+mn-lt"/>
          <a:ea typeface="+mn-ea"/>
          <a:cs typeface="+mn-cs"/>
        </a:defRPr>
      </a:lvl5pPr>
      <a:lvl6pPr marL="1600200" indent="-228600" algn="l" defTabSz="914400" rtl="0" eaLnBrk="1" latinLnBrk="0" hangingPunct="1">
        <a:lnSpc>
          <a:spcPct val="100000"/>
        </a:lnSpc>
        <a:spcBef>
          <a:spcPts val="500"/>
        </a:spcBef>
        <a:buClr>
          <a:schemeClr val="tx2">
            <a:lumMod val="60000"/>
            <a:lumOff val="40000"/>
          </a:schemeClr>
        </a:buClr>
        <a:buFont typeface="Arial" panose="020B0604020202020204" pitchFamily="34" charset="0"/>
        <a:buChar char="•"/>
        <a:defRPr sz="1400" kern="1200">
          <a:solidFill>
            <a:schemeClr val="bg1"/>
          </a:solidFill>
          <a:latin typeface="+mn-lt"/>
          <a:ea typeface="+mn-ea"/>
          <a:cs typeface="+mn-cs"/>
        </a:defRPr>
      </a:lvl6pPr>
      <a:lvl7pPr marL="1899920" indent="-228600" algn="l" defTabSz="914400" rtl="0" eaLnBrk="1" latinLnBrk="0" hangingPunct="1">
        <a:lnSpc>
          <a:spcPct val="100000"/>
        </a:lnSpc>
        <a:spcBef>
          <a:spcPts val="500"/>
        </a:spcBef>
        <a:buClr>
          <a:schemeClr val="tx2">
            <a:lumMod val="60000"/>
            <a:lumOff val="40000"/>
          </a:schemeClr>
        </a:buClr>
        <a:buFont typeface="Arial" panose="020B0604020202020204" pitchFamily="34" charset="0"/>
        <a:buChar char="•"/>
        <a:defRPr sz="1400" kern="1200">
          <a:solidFill>
            <a:schemeClr val="bg1"/>
          </a:solidFill>
          <a:latin typeface="+mn-lt"/>
          <a:ea typeface="+mn-ea"/>
          <a:cs typeface="+mn-cs"/>
        </a:defRPr>
      </a:lvl7pPr>
      <a:lvl8pPr marL="2200275" indent="-228600" algn="l" defTabSz="914400" rtl="0" eaLnBrk="1" latinLnBrk="0" hangingPunct="1">
        <a:lnSpc>
          <a:spcPct val="100000"/>
        </a:lnSpc>
        <a:spcBef>
          <a:spcPts val="500"/>
        </a:spcBef>
        <a:buClr>
          <a:schemeClr val="tx2">
            <a:lumMod val="60000"/>
            <a:lumOff val="40000"/>
          </a:schemeClr>
        </a:buClr>
        <a:buFont typeface="Arial" panose="020B0604020202020204" pitchFamily="34" charset="0"/>
        <a:buChar char="•"/>
        <a:defRPr sz="1400" kern="1200">
          <a:solidFill>
            <a:schemeClr val="bg1"/>
          </a:solidFill>
          <a:latin typeface="+mn-lt"/>
          <a:ea typeface="+mn-ea"/>
          <a:cs typeface="+mn-cs"/>
        </a:defRPr>
      </a:lvl8pPr>
      <a:lvl9pPr marL="2499995" indent="-228600" algn="l" defTabSz="914400" rtl="0" eaLnBrk="1" latinLnBrk="0" hangingPunct="1">
        <a:lnSpc>
          <a:spcPct val="100000"/>
        </a:lnSpc>
        <a:spcBef>
          <a:spcPts val="500"/>
        </a:spcBef>
        <a:buClr>
          <a:schemeClr val="tx2">
            <a:lumMod val="60000"/>
            <a:lumOff val="40000"/>
          </a:schemeClr>
        </a:buClr>
        <a:buFont typeface="Arial" panose="020B0604020202020204" pitchFamily="34" charset="0"/>
        <a:buChar char="•"/>
        <a:defRPr sz="14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onupkeep.com/blog/infant-mortality-equipment-failure/" TargetMode="External"/><Relationship Id="rId2" Type="http://schemas.openxmlformats.org/officeDocument/2006/relationships/hyperlink" Target="https://www.weibull.com/hotwire/issue21/hottopics21.ht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geeksforgeeks.org/php-tutorial/" TargetMode="External"/><Relationship Id="rId2" Type="http://schemas.openxmlformats.org/officeDocument/2006/relationships/hyperlink" Target="https://www.geeksforgeeks.org/html/" TargetMode="External"/><Relationship Id="rId1" Type="http://schemas.openxmlformats.org/officeDocument/2006/relationships/slideLayout" Target="../slideLayouts/slideLayout2.xml"/><Relationship Id="rId4" Type="http://schemas.openxmlformats.org/officeDocument/2006/relationships/hyperlink" Target="https://www.geeksforgeeks.org/xml-basics/" TargetMode="External"/></Relationships>
</file>

<file path=ppt/slides/_rels/slide20.xml.rels><?xml version="1.0" encoding="UTF-8" standalone="yes"?>
<Relationships xmlns="http://schemas.openxmlformats.org/package/2006/relationships"><Relationship Id="rId2" Type="http://schemas.openxmlformats.org/officeDocument/2006/relationships/hyperlink" Target="https://www.geeksforgeeks.org/read-only-memory-rom/"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65161" y="3541689"/>
            <a:ext cx="9460970" cy="901521"/>
          </a:xfrm>
        </p:spPr>
        <p:txBody>
          <a:bodyPr/>
          <a:lstStyle/>
          <a:p>
            <a:pPr>
              <a:lnSpc>
                <a:spcPct val="100000"/>
              </a:lnSpc>
            </a:pPr>
            <a:r>
              <a:rPr lang="en-US" sz="4000" b="1" dirty="0">
                <a:effectLst/>
              </a:rPr>
              <a:t>Introduction to Software Engineering</a:t>
            </a:r>
            <a:br>
              <a:rPr lang="en-US" sz="4400" b="1" dirty="0">
                <a:effectLst/>
              </a:rPr>
            </a:br>
            <a:br>
              <a:rPr lang="en-US" sz="4400" b="1" dirty="0">
                <a:effectLst/>
              </a:rPr>
            </a:br>
            <a:endParaRPr lang="en-US" sz="4400" b="1" dirty="0"/>
          </a:p>
        </p:txBody>
      </p:sp>
      <p:sp>
        <p:nvSpPr>
          <p:cNvPr id="3" name="Subtitle 2"/>
          <p:cNvSpPr>
            <a:spLocks noGrp="1"/>
          </p:cNvSpPr>
          <p:nvPr>
            <p:ph type="subTitle" idx="1"/>
          </p:nvPr>
        </p:nvSpPr>
        <p:spPr>
          <a:xfrm>
            <a:off x="1365161" y="4443210"/>
            <a:ext cx="9460970" cy="1082419"/>
          </a:xfrm>
        </p:spPr>
        <p:txBody>
          <a:bodyPr>
            <a:noAutofit/>
          </a:bodyPr>
          <a:lstStyle/>
          <a:p>
            <a:r>
              <a:rPr lang="en-US" b="1" dirty="0">
                <a:latin typeface="Calibri" panose="020F0502020204030204" pitchFamily="34" charset="0"/>
                <a:cs typeface="Calibri" panose="020F0502020204030204" pitchFamily="34" charset="0"/>
              </a:rPr>
              <a:t>Instructor: Ms. Sadia </a:t>
            </a:r>
            <a:r>
              <a:rPr lang="en-US" b="1" dirty="0" err="1">
                <a:latin typeface="Calibri" panose="020F0502020204030204" pitchFamily="34" charset="0"/>
                <a:cs typeface="Calibri" panose="020F0502020204030204" pitchFamily="34" charset="0"/>
              </a:rPr>
              <a:t>Waheed</a:t>
            </a:r>
            <a:br>
              <a:rPr lang="en-US" b="1" dirty="0">
                <a:latin typeface="Calibri" panose="020F0502020204030204" pitchFamily="34" charset="0"/>
                <a:cs typeface="Calibri" panose="020F0502020204030204" pitchFamily="34" charset="0"/>
              </a:rPr>
            </a:br>
            <a:r>
              <a:rPr lang="en-US" b="1" dirty="0">
                <a:latin typeface="Calibri" panose="020F0502020204030204" pitchFamily="34" charset="0"/>
                <a:cs typeface="Calibri" panose="020F0502020204030204" pitchFamily="34" charset="0"/>
              </a:rPr>
              <a:t>Department of Computer Science University of Wah</a:t>
            </a:r>
            <a:br>
              <a:rPr lang="en-US" b="1" dirty="0">
                <a:latin typeface="Arial" panose="020B0604020202020204" pitchFamily="34" charset="0"/>
                <a:cs typeface="Arial" panose="020B0604020202020204" pitchFamily="34" charset="0"/>
              </a:rPr>
            </a:br>
            <a:endParaRPr lang="en-US" b="1" dirty="0"/>
          </a:p>
        </p:txBody>
      </p:sp>
      <p:sp>
        <p:nvSpPr>
          <p:cNvPr id="4" name="TextBox 3"/>
          <p:cNvSpPr txBox="1"/>
          <p:nvPr/>
        </p:nvSpPr>
        <p:spPr>
          <a:xfrm>
            <a:off x="5612927" y="1416677"/>
            <a:ext cx="970137" cy="369332"/>
          </a:xfrm>
          <a:prstGeom prst="rect">
            <a:avLst/>
          </a:prstGeom>
          <a:noFill/>
        </p:spPr>
        <p:txBody>
          <a:bodyPr wrap="none" rtlCol="0">
            <a:spAutoFit/>
          </a:bodyPr>
          <a:lstStyle/>
          <a:p>
            <a:r>
              <a:rPr lang="en-US" b="1" dirty="0"/>
              <a:t>CS-231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FF00"/>
                </a:solidFill>
              </a:rPr>
              <a:t>What is a Software Process?</a:t>
            </a:r>
          </a:p>
        </p:txBody>
      </p:sp>
      <p:sp>
        <p:nvSpPr>
          <p:cNvPr id="3" name="Content Placeholder 2"/>
          <p:cNvSpPr>
            <a:spLocks noGrp="1"/>
          </p:cNvSpPr>
          <p:nvPr>
            <p:ph idx="1"/>
          </p:nvPr>
        </p:nvSpPr>
        <p:spPr>
          <a:xfrm>
            <a:off x="914400" y="2103120"/>
            <a:ext cx="10495128" cy="3931920"/>
          </a:xfrm>
        </p:spPr>
        <p:txBody>
          <a:bodyPr/>
          <a:lstStyle/>
          <a:p>
            <a:pPr marL="342900" indent="-342900">
              <a:lnSpc>
                <a:spcPct val="150000"/>
              </a:lnSpc>
              <a:buFont typeface="+mj-lt"/>
              <a:buAutoNum type="arabicPeriod"/>
            </a:pPr>
            <a:r>
              <a:rPr lang="en-US" sz="2000" dirty="0"/>
              <a:t>A framework that describes the activities performed at each stage of a software development project. </a:t>
            </a:r>
          </a:p>
          <a:p>
            <a:pPr marL="342900" indent="-342900">
              <a:lnSpc>
                <a:spcPct val="150000"/>
              </a:lnSpc>
              <a:buFont typeface="+mj-lt"/>
              <a:buAutoNum type="arabicPeriod"/>
            </a:pPr>
            <a:r>
              <a:rPr lang="en-US" sz="2000" dirty="0"/>
              <a:t> A set of activities whose goal is the development or evolution of software. </a:t>
            </a:r>
          </a:p>
          <a:p>
            <a:pPr marL="342900" indent="-342900">
              <a:lnSpc>
                <a:spcPct val="150000"/>
              </a:lnSpc>
              <a:buFont typeface="+mj-lt"/>
              <a:buAutoNum type="arabicPeriod"/>
            </a:pPr>
            <a:r>
              <a:rPr lang="en-US" sz="2000" dirty="0"/>
              <a:t> Generic activities in all software processes are: </a:t>
            </a:r>
            <a:endParaRPr lang="en-US" dirty="0"/>
          </a:p>
          <a:p>
            <a:pPr>
              <a:buFont typeface="Wingdings" panose="05000000000000000000" pitchFamily="2" charset="2"/>
              <a:buChar char="ü"/>
            </a:pPr>
            <a:r>
              <a:rPr lang="en-US" b="1" dirty="0">
                <a:solidFill>
                  <a:schemeClr val="accent3">
                    <a:lumMod val="60000"/>
                    <a:lumOff val="40000"/>
                  </a:schemeClr>
                </a:solidFill>
              </a:rPr>
              <a:t>Software Specification</a:t>
            </a:r>
          </a:p>
          <a:p>
            <a:pPr>
              <a:buFont typeface="Wingdings" panose="05000000000000000000" pitchFamily="2" charset="2"/>
              <a:buChar char="ü"/>
            </a:pPr>
            <a:r>
              <a:rPr lang="en-US" b="1" dirty="0">
                <a:solidFill>
                  <a:schemeClr val="accent3">
                    <a:lumMod val="60000"/>
                    <a:lumOff val="40000"/>
                  </a:schemeClr>
                </a:solidFill>
              </a:rPr>
              <a:t>Software Development </a:t>
            </a:r>
          </a:p>
          <a:p>
            <a:pPr>
              <a:buFont typeface="Wingdings" panose="05000000000000000000" pitchFamily="2" charset="2"/>
              <a:buChar char="ü"/>
            </a:pPr>
            <a:r>
              <a:rPr lang="en-US" b="1" dirty="0">
                <a:solidFill>
                  <a:schemeClr val="accent3">
                    <a:lumMod val="60000"/>
                    <a:lumOff val="40000"/>
                  </a:schemeClr>
                </a:solidFill>
              </a:rPr>
              <a:t>Software Validation </a:t>
            </a:r>
          </a:p>
          <a:p>
            <a:pPr>
              <a:buFont typeface="Wingdings" panose="05000000000000000000" pitchFamily="2" charset="2"/>
              <a:buChar char="ü"/>
            </a:pPr>
            <a:r>
              <a:rPr lang="en-US" b="1" dirty="0">
                <a:solidFill>
                  <a:schemeClr val="accent3">
                    <a:lumMod val="60000"/>
                    <a:lumOff val="40000"/>
                  </a:schemeClr>
                </a:solidFill>
              </a:rPr>
              <a:t>Software Evolution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FF00"/>
                </a:solidFill>
              </a:rPr>
              <a:t>Software Engineering Layers</a:t>
            </a:r>
          </a:p>
        </p:txBody>
      </p:sp>
      <p:pic>
        <p:nvPicPr>
          <p:cNvPr id="6" name="Content Placeholder 5"/>
          <p:cNvPicPr>
            <a:picLocks noGrp="1" noChangeAspect="1"/>
          </p:cNvPicPr>
          <p:nvPr>
            <p:ph sz="quarter" idx="1"/>
          </p:nvPr>
        </p:nvPicPr>
        <p:blipFill>
          <a:blip r:embed="rId3">
            <a:duotone>
              <a:schemeClr val="accent1">
                <a:shade val="45000"/>
                <a:satMod val="135000"/>
              </a:schemeClr>
              <a:prstClr val="white"/>
            </a:duotone>
          </a:blip>
          <a:stretch>
            <a:fillRect/>
          </a:stretch>
        </p:blipFill>
        <p:spPr>
          <a:xfrm>
            <a:off x="1732535" y="3414294"/>
            <a:ext cx="8726929" cy="2795016"/>
          </a:xfrm>
          <a:prstGeom prst="rect">
            <a:avLst/>
          </a:prstGeom>
        </p:spPr>
      </p:pic>
      <p:sp>
        <p:nvSpPr>
          <p:cNvPr id="7" name="Rectangle 6"/>
          <p:cNvSpPr/>
          <p:nvPr/>
        </p:nvSpPr>
        <p:spPr>
          <a:xfrm>
            <a:off x="1066800" y="2367819"/>
            <a:ext cx="9802969" cy="830997"/>
          </a:xfrm>
          <a:prstGeom prst="rect">
            <a:avLst/>
          </a:prstGeom>
        </p:spPr>
        <p:txBody>
          <a:bodyPr wrap="square">
            <a:spAutoFit/>
          </a:bodyPr>
          <a:lstStyle/>
          <a:p>
            <a:pPr algn="ctr"/>
            <a:r>
              <a:rPr lang="en-US" sz="2400" b="1" dirty="0">
                <a:latin typeface="Futura-CondensedLight"/>
              </a:rPr>
              <a:t>Software engineering encompasses a process, methods for managing and engineering software, and tools.</a:t>
            </a:r>
            <a:endParaRPr lang="en-US" sz="24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A quality focus</a:t>
            </a:r>
            <a:endParaRPr lang="en-US" dirty="0"/>
          </a:p>
        </p:txBody>
      </p:sp>
      <p:sp>
        <p:nvSpPr>
          <p:cNvPr id="3" name="Content Placeholder 2"/>
          <p:cNvSpPr>
            <a:spLocks noGrp="1"/>
          </p:cNvSpPr>
          <p:nvPr>
            <p:ph idx="1"/>
          </p:nvPr>
        </p:nvSpPr>
        <p:spPr/>
        <p:txBody>
          <a:bodyPr/>
          <a:lstStyle/>
          <a:p>
            <a:pPr marL="0" indent="0">
              <a:lnSpc>
                <a:spcPct val="150000"/>
              </a:lnSpc>
              <a:buNone/>
            </a:pPr>
            <a:endParaRPr lang="en-GB" b="1" dirty="0"/>
          </a:p>
          <a:p>
            <a:pPr>
              <a:lnSpc>
                <a:spcPct val="150000"/>
              </a:lnSpc>
            </a:pPr>
            <a:r>
              <a:rPr lang="en-GB" dirty="0"/>
              <a:t>It defines the continuous process improvement principles of software.</a:t>
            </a:r>
          </a:p>
          <a:p>
            <a:pPr>
              <a:lnSpc>
                <a:spcPct val="150000"/>
              </a:lnSpc>
            </a:pPr>
            <a:r>
              <a:rPr lang="en-GB" dirty="0"/>
              <a:t> It provides integrity that means providing security to the software so that data can be accessed by only an authorized person, no outsider can access the data.</a:t>
            </a:r>
          </a:p>
          <a:p>
            <a:pPr>
              <a:lnSpc>
                <a:spcPct val="150000"/>
              </a:lnSpc>
            </a:pPr>
            <a:r>
              <a:rPr lang="en-GB" dirty="0"/>
              <a:t> It also focuses on maintainability and usability.</a:t>
            </a:r>
            <a:endParaRPr lang="en-US" dirty="0"/>
          </a:p>
        </p:txBody>
      </p:sp>
    </p:spTree>
    <p:extLst>
      <p:ext uri="{BB962C8B-B14F-4D97-AF65-F5344CB8AC3E}">
        <p14:creationId xmlns:p14="http://schemas.microsoft.com/office/powerpoint/2010/main" val="903222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Process</a:t>
            </a:r>
            <a:endParaRPr lang="en-US" dirty="0"/>
          </a:p>
        </p:txBody>
      </p:sp>
      <p:sp>
        <p:nvSpPr>
          <p:cNvPr id="3" name="Content Placeholder 2"/>
          <p:cNvSpPr>
            <a:spLocks noGrp="1"/>
          </p:cNvSpPr>
          <p:nvPr>
            <p:ph idx="1"/>
          </p:nvPr>
        </p:nvSpPr>
        <p:spPr/>
        <p:txBody>
          <a:bodyPr/>
          <a:lstStyle/>
          <a:p>
            <a:r>
              <a:rPr lang="en-GB" dirty="0"/>
              <a:t>It is the foundation or base layer of software engineering. </a:t>
            </a:r>
          </a:p>
          <a:p>
            <a:r>
              <a:rPr lang="en-GB" dirty="0"/>
              <a:t>It is key that binds all the layers together which enables the development of software before the deadline or on time. </a:t>
            </a:r>
          </a:p>
          <a:p>
            <a:r>
              <a:rPr lang="en-GB" dirty="0"/>
              <a:t> The software process covers all the activities, actions, and tasks required to be carried out for software development.</a:t>
            </a:r>
          </a:p>
          <a:p>
            <a:endParaRPr lang="en-US" dirty="0"/>
          </a:p>
        </p:txBody>
      </p:sp>
      <p:sp>
        <p:nvSpPr>
          <p:cNvPr id="4" name="AutoShape 2" descr="https://media.geeksforgeeks.org/wp-content/uploads/20210902132758/processactivitie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2">
            <a:biLevel thresh="75000"/>
          </a:blip>
          <a:stretch>
            <a:fillRect/>
          </a:stretch>
        </p:blipFill>
        <p:spPr>
          <a:xfrm>
            <a:off x="1254995" y="4170000"/>
            <a:ext cx="9682009" cy="1953966"/>
          </a:xfrm>
          <a:prstGeom prst="rect">
            <a:avLst/>
          </a:prstGeom>
        </p:spPr>
      </p:pic>
    </p:spTree>
    <p:extLst>
      <p:ext uri="{BB962C8B-B14F-4D97-AF65-F5344CB8AC3E}">
        <p14:creationId xmlns:p14="http://schemas.microsoft.com/office/powerpoint/2010/main" val="2747201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Process activities</a:t>
            </a:r>
            <a:endParaRPr lang="en-US" dirty="0"/>
          </a:p>
        </p:txBody>
      </p:sp>
      <p:sp>
        <p:nvSpPr>
          <p:cNvPr id="3" name="Content Placeholder 2"/>
          <p:cNvSpPr>
            <a:spLocks noGrp="1"/>
          </p:cNvSpPr>
          <p:nvPr>
            <p:ph idx="1"/>
          </p:nvPr>
        </p:nvSpPr>
        <p:spPr/>
        <p:txBody>
          <a:bodyPr/>
          <a:lstStyle/>
          <a:p>
            <a:pPr fontAlgn="base"/>
            <a:r>
              <a:rPr lang="en-GB" b="1" dirty="0"/>
              <a:t>Communication: </a:t>
            </a:r>
            <a:r>
              <a:rPr lang="en-GB" dirty="0"/>
              <a:t>Communication is necessary to know the actual demand of the client.</a:t>
            </a:r>
          </a:p>
          <a:p>
            <a:pPr fontAlgn="base"/>
            <a:r>
              <a:rPr lang="en-GB" b="1" dirty="0"/>
              <a:t>Planning: </a:t>
            </a:r>
            <a:r>
              <a:rPr lang="en-GB" dirty="0"/>
              <a:t>It basically means drawing a map for reduced the complication of development.</a:t>
            </a:r>
          </a:p>
          <a:p>
            <a:pPr fontAlgn="base"/>
            <a:r>
              <a:rPr lang="en-GB" b="1" dirty="0" err="1"/>
              <a:t>Modeling</a:t>
            </a:r>
            <a:r>
              <a:rPr lang="en-GB" b="1" dirty="0"/>
              <a:t>: </a:t>
            </a:r>
            <a:r>
              <a:rPr lang="en-GB" dirty="0"/>
              <a:t>In this process, a model is created according to the client for better understanding.</a:t>
            </a:r>
          </a:p>
          <a:p>
            <a:pPr fontAlgn="base"/>
            <a:r>
              <a:rPr lang="en-GB" b="1" dirty="0"/>
              <a:t>Construction: </a:t>
            </a:r>
            <a:r>
              <a:rPr lang="en-GB" dirty="0"/>
              <a:t>It includes the coding and testing of the problem.</a:t>
            </a:r>
          </a:p>
          <a:p>
            <a:pPr fontAlgn="base"/>
            <a:r>
              <a:rPr lang="en-GB" b="1" dirty="0"/>
              <a:t>Deployment:- </a:t>
            </a:r>
            <a:r>
              <a:rPr lang="en-GB" dirty="0"/>
              <a:t>It includes the delivery of software to the client for evaluation and feedback.</a:t>
            </a:r>
          </a:p>
          <a:p>
            <a:endParaRPr lang="en-US" dirty="0"/>
          </a:p>
        </p:txBody>
      </p:sp>
    </p:spTree>
    <p:extLst>
      <p:ext uri="{BB962C8B-B14F-4D97-AF65-F5344CB8AC3E}">
        <p14:creationId xmlns:p14="http://schemas.microsoft.com/office/powerpoint/2010/main" val="2645814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10000"/>
          </a:bodyPr>
          <a:lstStyle/>
          <a:p>
            <a:pPr marL="0" indent="0" fontAlgn="base">
              <a:lnSpc>
                <a:spcPct val="150000"/>
              </a:lnSpc>
              <a:buNone/>
            </a:pPr>
            <a:r>
              <a:rPr lang="en-GB" b="1" dirty="0"/>
              <a:t>Method </a:t>
            </a:r>
          </a:p>
          <a:p>
            <a:pPr fontAlgn="base">
              <a:lnSpc>
                <a:spcPct val="150000"/>
              </a:lnSpc>
            </a:pPr>
            <a:r>
              <a:rPr lang="en-GB" dirty="0"/>
              <a:t>During the process of software development the answers to all “how-to-do” questions are given by method. </a:t>
            </a:r>
          </a:p>
          <a:p>
            <a:pPr fontAlgn="base">
              <a:lnSpc>
                <a:spcPct val="150000"/>
              </a:lnSpc>
            </a:pPr>
            <a:r>
              <a:rPr lang="en-GB" dirty="0"/>
              <a:t>It has the information of all the tasks which includes communication, requirement analysis, design </a:t>
            </a:r>
            <a:r>
              <a:rPr lang="en-GB" dirty="0" err="1"/>
              <a:t>modeling</a:t>
            </a:r>
            <a:r>
              <a:rPr lang="en-GB" dirty="0"/>
              <a:t>, program construction, testing, and support.</a:t>
            </a:r>
          </a:p>
          <a:p>
            <a:pPr marL="0" indent="0" fontAlgn="base">
              <a:lnSpc>
                <a:spcPct val="150000"/>
              </a:lnSpc>
              <a:buNone/>
            </a:pPr>
            <a:r>
              <a:rPr lang="en-GB" dirty="0"/>
              <a:t>Tools</a:t>
            </a:r>
          </a:p>
          <a:p>
            <a:pPr marL="0" indent="0" fontAlgn="base">
              <a:lnSpc>
                <a:spcPct val="150000"/>
              </a:lnSpc>
              <a:buNone/>
            </a:pPr>
            <a:endParaRPr lang="en-GB" dirty="0"/>
          </a:p>
          <a:p>
            <a:pPr marL="0" indent="0">
              <a:lnSpc>
                <a:spcPct val="150000"/>
              </a:lnSpc>
              <a:buNone/>
            </a:pPr>
            <a:br>
              <a:rPr lang="en-GB" dirty="0"/>
            </a:br>
            <a:endParaRPr lang="en-US" dirty="0"/>
          </a:p>
        </p:txBody>
      </p:sp>
    </p:spTree>
    <p:extLst>
      <p:ext uri="{BB962C8B-B14F-4D97-AF65-F5344CB8AC3E}">
        <p14:creationId xmlns:p14="http://schemas.microsoft.com/office/powerpoint/2010/main" val="3108358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FF00"/>
                </a:solidFill>
              </a:rPr>
              <a:t>Software vs Hardware</a:t>
            </a:r>
          </a:p>
        </p:txBody>
      </p:sp>
      <p:sp>
        <p:nvSpPr>
          <p:cNvPr id="5" name="Content Placeholder 4"/>
          <p:cNvSpPr>
            <a:spLocks noGrp="1"/>
          </p:cNvSpPr>
          <p:nvPr>
            <p:ph sz="quarter" idx="1"/>
          </p:nvPr>
        </p:nvSpPr>
        <p:spPr>
          <a:xfrm>
            <a:off x="1066800" y="2344752"/>
            <a:ext cx="4367011" cy="4937760"/>
          </a:xfrm>
        </p:spPr>
        <p:txBody>
          <a:bodyPr>
            <a:normAutofit/>
          </a:bodyPr>
          <a:lstStyle/>
          <a:p>
            <a:pPr>
              <a:buFont typeface="Wingdings" panose="05000000000000000000" pitchFamily="2" charset="2"/>
              <a:buChar char="Ø"/>
            </a:pPr>
            <a:r>
              <a:rPr lang="en-US" sz="2800" dirty="0"/>
              <a:t>Software: Intangible parts of computer</a:t>
            </a:r>
          </a:p>
          <a:p>
            <a:pPr>
              <a:buFont typeface="Wingdings" panose="05000000000000000000" pitchFamily="2" charset="2"/>
              <a:buChar char="Ø"/>
            </a:pPr>
            <a:r>
              <a:rPr lang="en-US" sz="2800" dirty="0"/>
              <a:t>Software is a logical system element.</a:t>
            </a:r>
          </a:p>
          <a:p>
            <a:pPr>
              <a:buFont typeface="Wingdings" panose="05000000000000000000" pitchFamily="2" charset="2"/>
              <a:buChar char="Ø"/>
            </a:pPr>
            <a:r>
              <a:rPr lang="en-US" sz="2800" i="1" dirty="0"/>
              <a:t>Software is developed or engineered.</a:t>
            </a:r>
            <a:endParaRPr lang="en-US" sz="2800" dirty="0"/>
          </a:p>
        </p:txBody>
      </p:sp>
      <p:sp>
        <p:nvSpPr>
          <p:cNvPr id="7" name="Content Placeholder 4"/>
          <p:cNvSpPr txBox="1"/>
          <p:nvPr/>
        </p:nvSpPr>
        <p:spPr>
          <a:xfrm>
            <a:off x="6289184" y="2344752"/>
            <a:ext cx="5105400" cy="49377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panose="05040102010807070707"/>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panose="05040102010807070707"/>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panose="05040102010807070707"/>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panose="05000000000000000000"/>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panose="05000000000000000000"/>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buFont typeface="Wingdings" panose="05000000000000000000" pitchFamily="2" charset="2"/>
              <a:buChar char="Ø"/>
            </a:pPr>
            <a:r>
              <a:rPr lang="en-US" sz="2800" dirty="0"/>
              <a:t>Hardware: Tangible parts of computer</a:t>
            </a:r>
          </a:p>
          <a:p>
            <a:pPr>
              <a:buFont typeface="Wingdings" panose="05000000000000000000" pitchFamily="2" charset="2"/>
              <a:buChar char="Ø"/>
            </a:pPr>
            <a:r>
              <a:rPr lang="en-US" sz="2800" dirty="0"/>
              <a:t>Hardware is a physical system element</a:t>
            </a:r>
          </a:p>
          <a:p>
            <a:pPr>
              <a:buFont typeface="Wingdings" panose="05000000000000000000" pitchFamily="2" charset="2"/>
              <a:buChar char="Ø"/>
            </a:pPr>
            <a:r>
              <a:rPr lang="en-US" sz="2800" i="1" dirty="0"/>
              <a:t>Hardware is manufactured in the classical sense.</a:t>
            </a:r>
            <a:endParaRPr lang="en-US" sz="2800" dirty="0"/>
          </a:p>
          <a:p>
            <a:pPr>
              <a:buFont typeface="Wingdings" panose="05000000000000000000" pitchFamily="2" charset="2"/>
              <a:buChar char="Ø"/>
            </a:pPr>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487682"/>
            <a:ext cx="10058400" cy="1371600"/>
          </a:xfrm>
        </p:spPr>
        <p:txBody>
          <a:bodyPr/>
          <a:lstStyle/>
          <a:p>
            <a:pPr algn="ctr"/>
            <a:r>
              <a:rPr lang="en-US" b="1" dirty="0">
                <a:solidFill>
                  <a:srgbClr val="FFFF00"/>
                </a:solidFill>
              </a:rPr>
              <a:t>Similarities and Differences</a:t>
            </a:r>
          </a:p>
        </p:txBody>
      </p:sp>
      <p:sp>
        <p:nvSpPr>
          <p:cNvPr id="5" name="Content Placeholder 4"/>
          <p:cNvSpPr>
            <a:spLocks noGrp="1"/>
          </p:cNvSpPr>
          <p:nvPr>
            <p:ph sz="quarter" idx="1"/>
          </p:nvPr>
        </p:nvSpPr>
        <p:spPr>
          <a:xfrm>
            <a:off x="533400" y="1977815"/>
            <a:ext cx="11091334" cy="3931920"/>
          </a:xfrm>
        </p:spPr>
        <p:txBody>
          <a:bodyPr>
            <a:noAutofit/>
          </a:bodyPr>
          <a:lstStyle/>
          <a:p>
            <a:pPr algn="just"/>
            <a:r>
              <a:rPr lang="en-US" sz="2400" dirty="0"/>
              <a:t>Although some similarities exist between software development and hardware manufacturing, the two activities are fundamentally different. </a:t>
            </a:r>
          </a:p>
          <a:p>
            <a:pPr algn="just"/>
            <a:r>
              <a:rPr lang="en-US" sz="2400" dirty="0"/>
              <a:t>In both activities, high quality is achieved through good design, but the manufacturing phase for hardware can introduce quality problems that are nonexistent for software. </a:t>
            </a:r>
          </a:p>
          <a:p>
            <a:pPr algn="just"/>
            <a:r>
              <a:rPr lang="en-US" sz="2400" dirty="0"/>
              <a:t>Both activities are dependent on people, but the relationship between people applied and work accomplished is entirely different.</a:t>
            </a:r>
          </a:p>
          <a:p>
            <a:pPr algn="just"/>
            <a:r>
              <a:rPr lang="en-US" sz="2400" dirty="0"/>
              <a:t>Both activities require the construction of a “product,” but the approaches are different.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3991897" cy="1371600"/>
          </a:xfrm>
        </p:spPr>
        <p:txBody>
          <a:bodyPr>
            <a:normAutofit fontScale="90000"/>
          </a:bodyPr>
          <a:lstStyle/>
          <a:p>
            <a:r>
              <a:rPr lang="en-US" b="1" dirty="0">
                <a:solidFill>
                  <a:srgbClr val="FFFF00"/>
                </a:solidFill>
              </a:rPr>
              <a:t>Failure Curve</a:t>
            </a:r>
            <a:endParaRPr lang="en-US" dirty="0"/>
          </a:p>
        </p:txBody>
      </p:sp>
      <p:pic>
        <p:nvPicPr>
          <p:cNvPr id="2050" name="Picture 2" descr="Failure Curve for Software - Software Engineeri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256230" y="418905"/>
            <a:ext cx="6542479" cy="6040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9953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FF00"/>
                </a:solidFill>
              </a:rPr>
              <a:t>Failure Curve For Hardware</a:t>
            </a:r>
          </a:p>
        </p:txBody>
      </p:sp>
      <p:pic>
        <p:nvPicPr>
          <p:cNvPr id="6" name="Content Placeholder 5"/>
          <p:cNvPicPr>
            <a:picLocks noGrp="1" noChangeAspect="1"/>
          </p:cNvPicPr>
          <p:nvPr>
            <p:ph sz="quarter" idx="1"/>
          </p:nvPr>
        </p:nvPicPr>
        <p:blipFill>
          <a:blip r:embed="rId3"/>
          <a:stretch>
            <a:fillRect/>
          </a:stretch>
        </p:blipFill>
        <p:spPr>
          <a:xfrm>
            <a:off x="3902298" y="3010679"/>
            <a:ext cx="4713668" cy="2775767"/>
          </a:xfrm>
          <a:prstGeom prst="rect">
            <a:avLst/>
          </a:prstGeom>
        </p:spPr>
      </p:pic>
      <p:sp>
        <p:nvSpPr>
          <p:cNvPr id="8" name="Content Placeholder 4"/>
          <p:cNvSpPr txBox="1"/>
          <p:nvPr/>
        </p:nvSpPr>
        <p:spPr>
          <a:xfrm>
            <a:off x="872071" y="2228044"/>
            <a:ext cx="10774122" cy="4341039"/>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panose="05040102010807070707"/>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panose="05040102010807070707"/>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panose="05040102010807070707"/>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panose="05000000000000000000"/>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panose="05000000000000000000"/>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gn="just"/>
            <a:r>
              <a:rPr lang="en-US" sz="2400" dirty="0"/>
              <a:t>Hardware wears out with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3228" y="726265"/>
            <a:ext cx="10347434" cy="5264632"/>
          </a:xfrm>
        </p:spPr>
        <p:txBody>
          <a:bodyPr>
            <a:noAutofit/>
          </a:bodyPr>
          <a:lstStyle/>
          <a:p>
            <a:pPr algn="just"/>
            <a:r>
              <a:rPr lang="en-US" sz="1600" dirty="0"/>
              <a:t>The graph shown indicates that hardware exhibits relatively high failure rates early in its; defects are corrected and the failure rate drops to a steady-state level (hopefully, quite low) for some period of time. As time passes, however, the failure rate rises again as hardware components suffer from the cumulative effects of dust, vibration, abuse, temperature extremes, and many other environmental maladies. The hardware begins to </a:t>
            </a:r>
            <a:r>
              <a:rPr lang="en-US" sz="1600" i="1" dirty="0"/>
              <a:t>wear out.</a:t>
            </a:r>
          </a:p>
          <a:p>
            <a:pPr marL="0" indent="0" algn="just">
              <a:buNone/>
            </a:pPr>
            <a:endParaRPr lang="en-US" sz="1600" i="1" dirty="0"/>
          </a:p>
          <a:p>
            <a:r>
              <a:rPr lang="en-US" sz="1600" dirty="0"/>
              <a:t>A bathtub curve is a visual representation of the failure rate of a product or group of products over time. By plotting the occurrences of failure over time, a bathtub curve maps out three periods that an asset experiences within its lifetime:</a:t>
            </a:r>
          </a:p>
          <a:p>
            <a:r>
              <a:rPr lang="en-US" sz="1600" dirty="0"/>
              <a:t>Infant mortality period</a:t>
            </a:r>
          </a:p>
          <a:p>
            <a:r>
              <a:rPr lang="en-US" sz="1600" dirty="0"/>
              <a:t>Wear-out period</a:t>
            </a:r>
          </a:p>
          <a:p>
            <a:endParaRPr lang="en-US" sz="1600" dirty="0"/>
          </a:p>
          <a:p>
            <a:r>
              <a:rPr lang="en-US" sz="1600" dirty="0"/>
              <a:t>The  </a:t>
            </a:r>
            <a:r>
              <a:rPr lang="en-US" sz="1600" dirty="0">
                <a:hlinkClick r:id="rId2"/>
              </a:rPr>
              <a:t>infant mortality</a:t>
            </a:r>
            <a:r>
              <a:rPr lang="en-US" sz="1600" dirty="0"/>
              <a:t> period, also known as the early failure period, begins when a product is used for the first time. It is an interval characterized by a decreasing failure rate that starts from a high failure occurrence, quickly decreasing to a lower failure rate.  </a:t>
            </a:r>
            <a:r>
              <a:rPr lang="en-US" sz="1600" dirty="0">
                <a:hlinkClick r:id="rId3"/>
              </a:rPr>
              <a:t>Failures that occur within this time</a:t>
            </a:r>
            <a:r>
              <a:rPr lang="en-US" sz="1600" dirty="0"/>
              <a:t> are usually driven by manufacturing defects or installation issues. Other causes of failure events in this period could be design flaws or improper start-up procedures.</a:t>
            </a:r>
          </a:p>
          <a:p>
            <a:endParaRPr lang="en-US" sz="1600" dirty="0"/>
          </a:p>
          <a:p>
            <a:endParaRPr lang="en-US" sz="1600" dirty="0"/>
          </a:p>
          <a:p>
            <a:pPr algn="just"/>
            <a:endParaRPr lang="en-US" sz="1600" dirty="0"/>
          </a:p>
          <a:p>
            <a:endParaRPr lang="en-US" sz="1600" dirty="0"/>
          </a:p>
        </p:txBody>
      </p:sp>
    </p:spTree>
    <p:extLst>
      <p:ext uri="{BB962C8B-B14F-4D97-AF65-F5344CB8AC3E}">
        <p14:creationId xmlns:p14="http://schemas.microsoft.com/office/powerpoint/2010/main" val="3947934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Assets naturally deteriorate over time. The number of failure occurrences that an asset experience expectedly increases after a certain usage period. </a:t>
            </a:r>
          </a:p>
          <a:p>
            <a:endParaRPr lang="en-US" dirty="0"/>
          </a:p>
          <a:p>
            <a:r>
              <a:rPr lang="en-US" dirty="0"/>
              <a:t>The wear-out region in the bathtub curve is characterized by this increasing trend of the failure rate. As failure rates increase quickly before the end of an asset life cycle, the bathtub curve slopes sharply upward. Eventually, this leads to the total failure of an asset.</a:t>
            </a:r>
          </a:p>
          <a:p>
            <a:endParaRPr lang="en-US" dirty="0"/>
          </a:p>
        </p:txBody>
      </p:sp>
    </p:spTree>
    <p:extLst>
      <p:ext uri="{BB962C8B-B14F-4D97-AF65-F5344CB8AC3E}">
        <p14:creationId xmlns:p14="http://schemas.microsoft.com/office/powerpoint/2010/main" val="4136943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FF00"/>
                </a:solidFill>
              </a:rPr>
              <a:t>Failure Rate Curve For Software</a:t>
            </a:r>
          </a:p>
        </p:txBody>
      </p:sp>
      <p:sp>
        <p:nvSpPr>
          <p:cNvPr id="8" name="Content Placeholder 4"/>
          <p:cNvSpPr txBox="1"/>
          <p:nvPr/>
        </p:nvSpPr>
        <p:spPr>
          <a:xfrm>
            <a:off x="816864" y="2343954"/>
            <a:ext cx="10613136" cy="3813005"/>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panose="05040102010807070707"/>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panose="05040102010807070707"/>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panose="05040102010807070707"/>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panose="05000000000000000000"/>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panose="05000000000000000000"/>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gn="just"/>
            <a:r>
              <a:rPr lang="en-US" sz="2000" dirty="0"/>
              <a:t>Software does not “wear out” but it does deteriorate.</a:t>
            </a:r>
          </a:p>
          <a:p>
            <a:pPr algn="just"/>
            <a:r>
              <a:rPr lang="en-US" sz="2000" dirty="0"/>
              <a:t>The relationship is shown through “idealized curve” and “actual curve”.</a:t>
            </a:r>
          </a:p>
        </p:txBody>
      </p:sp>
      <p:pic>
        <p:nvPicPr>
          <p:cNvPr id="5" name="Picture 4"/>
          <p:cNvPicPr>
            <a:picLocks noChangeAspect="1"/>
          </p:cNvPicPr>
          <p:nvPr/>
        </p:nvPicPr>
        <p:blipFill>
          <a:blip r:embed="rId3"/>
          <a:stretch>
            <a:fillRect/>
          </a:stretch>
        </p:blipFill>
        <p:spPr>
          <a:xfrm>
            <a:off x="3971959" y="3536692"/>
            <a:ext cx="4302945" cy="280585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Undiscovered defects will cause high failure rates early in the life of a program. However, these are corrected and the curve flattens.</a:t>
            </a:r>
          </a:p>
          <a:p>
            <a:pPr algn="just"/>
            <a:endParaRPr lang="en-US" dirty="0"/>
          </a:p>
          <a:p>
            <a:pPr algn="just"/>
            <a:r>
              <a:rPr lang="en-US" dirty="0"/>
              <a:t>During its life, software will undergo change. As changes are made, it is likely that errors will be introduced, causing the failure rate curve to spike as shown in the “actual curve”. </a:t>
            </a:r>
          </a:p>
          <a:p>
            <a:pPr algn="just"/>
            <a:endParaRPr lang="en-US" dirty="0"/>
          </a:p>
          <a:p>
            <a:pPr algn="just"/>
            <a:r>
              <a:rPr lang="en-US" dirty="0"/>
              <a:t>Before the curve can return to the original steady-state failure rate, another change is requested, causing the curve to spike again. Slowly, the minimum failure rate level begins to rise—the software is deteriorating due to change.</a:t>
            </a:r>
          </a:p>
          <a:p>
            <a:endParaRPr lang="en-US" dirty="0"/>
          </a:p>
        </p:txBody>
      </p:sp>
    </p:spTree>
    <p:extLst>
      <p:ext uri="{BB962C8B-B14F-4D97-AF65-F5344CB8AC3E}">
        <p14:creationId xmlns:p14="http://schemas.microsoft.com/office/powerpoint/2010/main" val="2249293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FF00"/>
                </a:solidFill>
              </a:rPr>
              <a:t>“Wear out” Aspect</a:t>
            </a:r>
          </a:p>
        </p:txBody>
      </p:sp>
      <p:sp>
        <p:nvSpPr>
          <p:cNvPr id="5" name="Content Placeholder 4"/>
          <p:cNvSpPr>
            <a:spLocks noGrp="1"/>
          </p:cNvSpPr>
          <p:nvPr>
            <p:ph sz="quarter" idx="1"/>
          </p:nvPr>
        </p:nvSpPr>
        <p:spPr>
          <a:xfrm>
            <a:off x="1156952" y="2282615"/>
            <a:ext cx="9968248" cy="3931920"/>
          </a:xfrm>
        </p:spPr>
        <p:txBody>
          <a:bodyPr>
            <a:noAutofit/>
          </a:bodyPr>
          <a:lstStyle/>
          <a:p>
            <a:pPr algn="just"/>
            <a:r>
              <a:rPr lang="en-US" sz="2000" dirty="0"/>
              <a:t>When a hardware component wears out, it is replaced by a spare part. There are no software spare parts.</a:t>
            </a:r>
          </a:p>
          <a:p>
            <a:pPr algn="just"/>
            <a:endParaRPr lang="en-US" sz="2000" dirty="0"/>
          </a:p>
          <a:p>
            <a:pPr algn="just"/>
            <a:r>
              <a:rPr lang="en-US" sz="2000" dirty="0"/>
              <a:t>Every software failure indicates an error in design or in the process through which design was translated into machine executable code. </a:t>
            </a:r>
          </a:p>
          <a:p>
            <a:pPr algn="just"/>
            <a:endParaRPr lang="en-US" sz="2000" dirty="0"/>
          </a:p>
          <a:p>
            <a:pPr algn="just"/>
            <a:r>
              <a:rPr lang="en-US" sz="2000" dirty="0"/>
              <a:t>Therefore, the software maintenance tasks that accommodate requests for change involve considerably more complexity than hardware maintenance.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FF00"/>
                </a:solidFill>
              </a:rPr>
              <a:t>Software Domains</a:t>
            </a:r>
            <a:endParaRPr lang="en-US" dirty="0"/>
          </a:p>
        </p:txBody>
      </p:sp>
      <p:sp>
        <p:nvSpPr>
          <p:cNvPr id="3" name="Content Placeholder 2"/>
          <p:cNvSpPr>
            <a:spLocks noGrp="1"/>
          </p:cNvSpPr>
          <p:nvPr>
            <p:ph idx="1"/>
          </p:nvPr>
        </p:nvSpPr>
        <p:spPr/>
        <p:txBody>
          <a:bodyPr/>
          <a:lstStyle/>
          <a:p>
            <a:pPr fontAlgn="base"/>
            <a:r>
              <a:rPr lang="en-GB" b="1" dirty="0"/>
              <a:t>Based on Application</a:t>
            </a:r>
            <a:endParaRPr lang="en-GB" dirty="0"/>
          </a:p>
          <a:p>
            <a:pPr fontAlgn="base"/>
            <a:r>
              <a:rPr lang="en-GB" b="1" dirty="0"/>
              <a:t>Based on Copyright</a:t>
            </a:r>
            <a:endParaRPr lang="en-GB" dirty="0"/>
          </a:p>
          <a:p>
            <a:endParaRPr lang="en-US" dirty="0"/>
          </a:p>
        </p:txBody>
      </p:sp>
    </p:spTree>
    <p:extLst>
      <p:ext uri="{BB962C8B-B14F-4D97-AF65-F5344CB8AC3E}">
        <p14:creationId xmlns:p14="http://schemas.microsoft.com/office/powerpoint/2010/main" val="2627217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Based on Application</a:t>
            </a:r>
            <a:br>
              <a:rPr lang="en-GB" dirty="0"/>
            </a:br>
            <a:endParaRPr lang="en-US" dirty="0"/>
          </a:p>
        </p:txBody>
      </p:sp>
      <p:sp>
        <p:nvSpPr>
          <p:cNvPr id="3" name="Content Placeholder 2"/>
          <p:cNvSpPr>
            <a:spLocks noGrp="1"/>
          </p:cNvSpPr>
          <p:nvPr>
            <p:ph idx="1"/>
          </p:nvPr>
        </p:nvSpPr>
        <p:spPr/>
        <p:txBody>
          <a:bodyPr>
            <a:normAutofit/>
          </a:bodyPr>
          <a:lstStyle/>
          <a:p>
            <a:pPr marL="0" indent="0" algn="just" fontAlgn="base">
              <a:buNone/>
            </a:pPr>
            <a:r>
              <a:rPr lang="en-GB" sz="2000" b="1" dirty="0"/>
              <a:t>System Software:</a:t>
            </a:r>
          </a:p>
          <a:p>
            <a:pPr algn="just" fontAlgn="base"/>
            <a:r>
              <a:rPr lang="en-GB" sz="2000" dirty="0"/>
              <a:t>System Software is necessary to manage computer resources and support the execution of application programs. </a:t>
            </a:r>
          </a:p>
          <a:p>
            <a:pPr algn="just" fontAlgn="base"/>
            <a:r>
              <a:rPr lang="en-GB" sz="2000" dirty="0"/>
              <a:t>Operating systems, compilers, editors and drivers, </a:t>
            </a:r>
            <a:r>
              <a:rPr lang="en-GB" sz="2000" dirty="0" err="1"/>
              <a:t>etc</a:t>
            </a:r>
            <a:endParaRPr lang="en-GB" sz="2000" dirty="0"/>
          </a:p>
          <a:p>
            <a:pPr algn="just" fontAlgn="base"/>
            <a:endParaRPr lang="en-GB" sz="2000" dirty="0"/>
          </a:p>
          <a:p>
            <a:pPr marL="0" indent="0" algn="just" fontAlgn="base">
              <a:buNone/>
            </a:pPr>
            <a:r>
              <a:rPr lang="en-GB" sz="2000" b="1" dirty="0"/>
              <a:t>Application Software:</a:t>
            </a:r>
          </a:p>
          <a:p>
            <a:pPr algn="just" fontAlgn="base"/>
            <a:r>
              <a:rPr lang="en-GB" sz="2000" dirty="0"/>
              <a:t>Application software is designed to </a:t>
            </a:r>
            <a:r>
              <a:rPr lang="en-GB" sz="2000" dirty="0" err="1"/>
              <a:t>fulfill</a:t>
            </a:r>
            <a:r>
              <a:rPr lang="en-GB" sz="2000" dirty="0"/>
              <a:t> the user’s requirement by interacting with the user directly.</a:t>
            </a:r>
          </a:p>
          <a:p>
            <a:pPr algn="just" fontAlgn="base"/>
            <a:r>
              <a:rPr lang="en-GB" sz="2000" dirty="0"/>
              <a:t> It could be classified into two major categories:- generic or customized. </a:t>
            </a:r>
          </a:p>
          <a:p>
            <a:pPr algn="just"/>
            <a:endParaRPr lang="en-US" sz="2000" dirty="0"/>
          </a:p>
        </p:txBody>
      </p:sp>
    </p:spTree>
    <p:extLst>
      <p:ext uri="{BB962C8B-B14F-4D97-AF65-F5344CB8AC3E}">
        <p14:creationId xmlns:p14="http://schemas.microsoft.com/office/powerpoint/2010/main" val="20341423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Based on Application</a:t>
            </a:r>
            <a:br>
              <a:rPr lang="en-GB" dirty="0"/>
            </a:br>
            <a:endParaRPr lang="en-US" dirty="0"/>
          </a:p>
        </p:txBody>
      </p:sp>
      <p:sp>
        <p:nvSpPr>
          <p:cNvPr id="3" name="Content Placeholder 2"/>
          <p:cNvSpPr>
            <a:spLocks noGrp="1"/>
          </p:cNvSpPr>
          <p:nvPr>
            <p:ph idx="1"/>
          </p:nvPr>
        </p:nvSpPr>
        <p:spPr/>
        <p:txBody>
          <a:bodyPr>
            <a:normAutofit/>
          </a:bodyPr>
          <a:lstStyle/>
          <a:p>
            <a:pPr marL="0" indent="0" algn="just" fontAlgn="base">
              <a:buNone/>
            </a:pPr>
            <a:r>
              <a:rPr lang="en-GB" sz="2000" b="1" dirty="0"/>
              <a:t>Networking and Web Applications Software:</a:t>
            </a:r>
          </a:p>
          <a:p>
            <a:pPr algn="just" fontAlgn="base"/>
            <a:r>
              <a:rPr lang="en-GB" sz="2000" dirty="0"/>
              <a:t>Networking Software provides the required support necessary for computers to interact with each other and with data storage facilities.</a:t>
            </a:r>
          </a:p>
          <a:p>
            <a:pPr algn="just" fontAlgn="base"/>
            <a:r>
              <a:rPr lang="en-GB" sz="2000" dirty="0"/>
              <a:t> Networking software is also used when software is running on a network of computers (such as the World Wide Web).</a:t>
            </a:r>
          </a:p>
          <a:p>
            <a:pPr algn="just" fontAlgn="base"/>
            <a:r>
              <a:rPr lang="en-GB" sz="2000" dirty="0"/>
              <a:t>Security and encryption software, and software to develop web-based applications like</a:t>
            </a:r>
            <a:r>
              <a:rPr lang="en-GB" sz="2000" u="sng" dirty="0">
                <a:hlinkClick r:id="rId2"/>
              </a:rPr>
              <a:t> HTML</a:t>
            </a:r>
            <a:r>
              <a:rPr lang="en-GB" sz="2000" dirty="0"/>
              <a:t>, </a:t>
            </a:r>
            <a:r>
              <a:rPr lang="en-GB" sz="2000" u="sng" dirty="0">
                <a:hlinkClick r:id="rId3"/>
              </a:rPr>
              <a:t>PHP</a:t>
            </a:r>
            <a:r>
              <a:rPr lang="en-GB" sz="2000" dirty="0"/>
              <a:t>, </a:t>
            </a:r>
            <a:r>
              <a:rPr lang="en-GB" sz="2000" u="sng" dirty="0">
                <a:hlinkClick r:id="rId4"/>
              </a:rPr>
              <a:t>XML</a:t>
            </a:r>
            <a:endParaRPr lang="en-GB" sz="2000" dirty="0"/>
          </a:p>
          <a:p>
            <a:pPr algn="just"/>
            <a:endParaRPr lang="en-US" sz="2000" dirty="0"/>
          </a:p>
        </p:txBody>
      </p:sp>
    </p:spTree>
    <p:extLst>
      <p:ext uri="{BB962C8B-B14F-4D97-AF65-F5344CB8AC3E}">
        <p14:creationId xmlns:p14="http://schemas.microsoft.com/office/powerpoint/2010/main" val="2395375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Based on Application</a:t>
            </a:r>
            <a:endParaRPr lang="en-GB" dirty="0"/>
          </a:p>
        </p:txBody>
      </p:sp>
      <p:sp>
        <p:nvSpPr>
          <p:cNvPr id="3" name="Content Placeholder 2"/>
          <p:cNvSpPr>
            <a:spLocks noGrp="1"/>
          </p:cNvSpPr>
          <p:nvPr>
            <p:ph idx="1"/>
          </p:nvPr>
        </p:nvSpPr>
        <p:spPr/>
        <p:txBody>
          <a:bodyPr>
            <a:normAutofit/>
          </a:bodyPr>
          <a:lstStyle/>
          <a:p>
            <a:pPr marL="0" indent="0" fontAlgn="base">
              <a:lnSpc>
                <a:spcPct val="150000"/>
              </a:lnSpc>
              <a:buNone/>
            </a:pPr>
            <a:r>
              <a:rPr lang="en-GB" sz="2000" b="1" dirty="0"/>
              <a:t>Embedded Software:</a:t>
            </a:r>
          </a:p>
          <a:p>
            <a:pPr fontAlgn="base">
              <a:lnSpc>
                <a:spcPct val="150000"/>
              </a:lnSpc>
            </a:pPr>
            <a:r>
              <a:rPr lang="en-GB" sz="2000" dirty="0"/>
              <a:t>This type of software is embedded into the hardware normally in the </a:t>
            </a:r>
            <a:r>
              <a:rPr lang="en-GB" sz="2000" u="sng" dirty="0">
                <a:hlinkClick r:id="rId2"/>
              </a:rPr>
              <a:t>Read-Only Memory (ROM)</a:t>
            </a:r>
            <a:r>
              <a:rPr lang="en-GB" sz="2000" dirty="0"/>
              <a:t> as a part of a large system and is used to support certain functionality under the control conditions. </a:t>
            </a:r>
          </a:p>
          <a:p>
            <a:pPr fontAlgn="base">
              <a:lnSpc>
                <a:spcPct val="150000"/>
              </a:lnSpc>
            </a:pPr>
            <a:r>
              <a:rPr lang="en-GB" sz="2000" dirty="0"/>
              <a:t>Control applications like washing machines, satellites, microwaves</a:t>
            </a:r>
          </a:p>
          <a:p>
            <a:pPr>
              <a:lnSpc>
                <a:spcPct val="150000"/>
              </a:lnSpc>
            </a:pPr>
            <a:endParaRPr lang="en-US" sz="2000" dirty="0"/>
          </a:p>
        </p:txBody>
      </p:sp>
    </p:spTree>
    <p:extLst>
      <p:ext uri="{BB962C8B-B14F-4D97-AF65-F5344CB8AC3E}">
        <p14:creationId xmlns:p14="http://schemas.microsoft.com/office/powerpoint/2010/main" val="2484317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Based on Application</a:t>
            </a:r>
            <a:br>
              <a:rPr lang="en-GB" dirty="0"/>
            </a:br>
            <a:endParaRPr lang="en-US" dirty="0"/>
          </a:p>
        </p:txBody>
      </p:sp>
      <p:sp>
        <p:nvSpPr>
          <p:cNvPr id="3" name="Content Placeholder 2"/>
          <p:cNvSpPr>
            <a:spLocks noGrp="1"/>
          </p:cNvSpPr>
          <p:nvPr>
            <p:ph idx="1"/>
          </p:nvPr>
        </p:nvSpPr>
        <p:spPr/>
        <p:txBody>
          <a:bodyPr>
            <a:normAutofit/>
          </a:bodyPr>
          <a:lstStyle/>
          <a:p>
            <a:pPr marL="0" indent="0" algn="just" fontAlgn="base">
              <a:buNone/>
            </a:pPr>
            <a:r>
              <a:rPr lang="en-GB" sz="2000" b="1" dirty="0"/>
              <a:t>Business Software:</a:t>
            </a:r>
          </a:p>
          <a:p>
            <a:pPr algn="just" fontAlgn="base"/>
            <a:r>
              <a:rPr lang="en-GB" sz="2000" dirty="0"/>
              <a:t>This category of software is used to support business applications and is the most widely used category of software. Examples are software for inventory management, accounts, banking, hospitals, schools, stock markets, etc. </a:t>
            </a:r>
          </a:p>
          <a:p>
            <a:pPr algn="just"/>
            <a:endParaRPr lang="en-GB" sz="2000" dirty="0"/>
          </a:p>
          <a:p>
            <a:pPr marL="0" indent="0" algn="just" fontAlgn="base">
              <a:buNone/>
            </a:pPr>
            <a:r>
              <a:rPr lang="en-US" sz="2000" b="1" dirty="0"/>
              <a:t>Artificial Intelligence Software:</a:t>
            </a:r>
          </a:p>
          <a:p>
            <a:pPr algn="just" fontAlgn="base"/>
            <a:r>
              <a:rPr lang="en-US" sz="2000" dirty="0"/>
              <a:t>Software like expert systems, decision support systems, pattern recognition software, </a:t>
            </a:r>
            <a:r>
              <a:rPr lang="en-US" sz="2000" u="sng" dirty="0"/>
              <a:t>artificial neural networks</a:t>
            </a:r>
            <a:r>
              <a:rPr lang="en-US" sz="2000" dirty="0"/>
              <a:t>, </a:t>
            </a:r>
          </a:p>
        </p:txBody>
      </p:sp>
    </p:spTree>
    <p:extLst>
      <p:ext uri="{BB962C8B-B14F-4D97-AF65-F5344CB8AC3E}">
        <p14:creationId xmlns:p14="http://schemas.microsoft.com/office/powerpoint/2010/main" val="8541286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Based on Application</a:t>
            </a:r>
            <a:br>
              <a:rPr lang="en-GB" dirty="0"/>
            </a:br>
            <a:endParaRPr lang="en-US" dirty="0"/>
          </a:p>
        </p:txBody>
      </p:sp>
      <p:sp>
        <p:nvSpPr>
          <p:cNvPr id="3" name="Content Placeholder 2"/>
          <p:cNvSpPr>
            <a:spLocks noGrp="1"/>
          </p:cNvSpPr>
          <p:nvPr>
            <p:ph idx="1"/>
          </p:nvPr>
        </p:nvSpPr>
        <p:spPr/>
        <p:txBody>
          <a:bodyPr>
            <a:normAutofit/>
          </a:bodyPr>
          <a:lstStyle/>
          <a:p>
            <a:pPr marL="0" indent="0" fontAlgn="base">
              <a:lnSpc>
                <a:spcPct val="150000"/>
              </a:lnSpc>
              <a:buNone/>
            </a:pPr>
            <a:r>
              <a:rPr lang="en-GB" sz="2000" b="1" dirty="0"/>
              <a:t>Scientific Software:</a:t>
            </a:r>
          </a:p>
          <a:p>
            <a:pPr fontAlgn="base">
              <a:lnSpc>
                <a:spcPct val="150000"/>
              </a:lnSpc>
            </a:pPr>
            <a:r>
              <a:rPr lang="en-GB" sz="2000" dirty="0"/>
              <a:t>Such software is written for specific applications using principles, techniques, and formulae particular to that field.</a:t>
            </a:r>
          </a:p>
          <a:p>
            <a:pPr fontAlgn="base">
              <a:lnSpc>
                <a:spcPct val="150000"/>
              </a:lnSpc>
            </a:pPr>
            <a:r>
              <a:rPr lang="en-GB" sz="2000" dirty="0"/>
              <a:t> Examples are software like MATLAB, AUTOCAD, PSPICE, ORCAD, etc. </a:t>
            </a:r>
          </a:p>
          <a:p>
            <a:pPr>
              <a:lnSpc>
                <a:spcPct val="150000"/>
              </a:lnSpc>
            </a:pPr>
            <a:endParaRPr lang="en-US" sz="2000" dirty="0"/>
          </a:p>
        </p:txBody>
      </p:sp>
    </p:spTree>
    <p:extLst>
      <p:ext uri="{BB962C8B-B14F-4D97-AF65-F5344CB8AC3E}">
        <p14:creationId xmlns:p14="http://schemas.microsoft.com/office/powerpoint/2010/main" val="14952130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Based on Copyright</a:t>
            </a:r>
            <a:br>
              <a:rPr lang="en-US" b="1" dirty="0"/>
            </a:br>
            <a:endParaRPr lang="en-US" dirty="0"/>
          </a:p>
        </p:txBody>
      </p:sp>
      <p:sp>
        <p:nvSpPr>
          <p:cNvPr id="3" name="Content Placeholder 2"/>
          <p:cNvSpPr>
            <a:spLocks noGrp="1"/>
          </p:cNvSpPr>
          <p:nvPr>
            <p:ph idx="1"/>
          </p:nvPr>
        </p:nvSpPr>
        <p:spPr>
          <a:xfrm>
            <a:off x="949234" y="1711235"/>
            <a:ext cx="10058400" cy="3931920"/>
          </a:xfrm>
        </p:spPr>
        <p:txBody>
          <a:bodyPr>
            <a:normAutofit fontScale="92500" lnSpcReduction="10000"/>
          </a:bodyPr>
          <a:lstStyle/>
          <a:p>
            <a:pPr marL="0" indent="0" algn="just" fontAlgn="base">
              <a:buNone/>
            </a:pPr>
            <a:r>
              <a:rPr lang="en-GB" sz="2000" b="1" dirty="0"/>
              <a:t>Commercial Software:</a:t>
            </a:r>
          </a:p>
          <a:p>
            <a:pPr algn="just" fontAlgn="base"/>
            <a:r>
              <a:rPr lang="en-GB" sz="2000" dirty="0"/>
              <a:t>It represents the majority of software that we purchase from software companies, commercial computer stores, etc.</a:t>
            </a:r>
          </a:p>
          <a:p>
            <a:pPr algn="just" fontAlgn="base"/>
            <a:r>
              <a:rPr lang="en-GB" sz="2000" dirty="0"/>
              <a:t> In this case, when a user buys software, they acquire a license key to use it. Users are not allowed to make copies of the software. The company owns the copyright of the program.</a:t>
            </a:r>
          </a:p>
          <a:p>
            <a:pPr marL="0" indent="0" algn="just" fontAlgn="base">
              <a:buNone/>
            </a:pPr>
            <a:endParaRPr lang="en-GB" sz="2000" b="1" dirty="0"/>
          </a:p>
          <a:p>
            <a:pPr marL="0" indent="0" algn="just" fontAlgn="base">
              <a:buNone/>
            </a:pPr>
            <a:r>
              <a:rPr lang="en-GB" sz="2000" b="1" dirty="0"/>
              <a:t>Shareware Software:</a:t>
            </a:r>
          </a:p>
          <a:p>
            <a:pPr algn="just" fontAlgn="base"/>
            <a:r>
              <a:rPr lang="en-GB" sz="2000" dirty="0"/>
              <a:t>The purchasers are allowed to make and distribute copies with the condition that after testing the software, if the purchaser adopts it for use, then they must pay for it. </a:t>
            </a:r>
          </a:p>
          <a:p>
            <a:pPr algn="just" fontAlgn="base"/>
            <a:r>
              <a:rPr lang="en-GB" sz="2000" dirty="0"/>
              <a:t>In both of the above types of software, changes to the software are not allowed. </a:t>
            </a:r>
          </a:p>
          <a:p>
            <a:pPr algn="just"/>
            <a:endParaRPr lang="en-US" sz="2000" dirty="0"/>
          </a:p>
        </p:txBody>
      </p:sp>
    </p:spTree>
    <p:extLst>
      <p:ext uri="{BB962C8B-B14F-4D97-AF65-F5344CB8AC3E}">
        <p14:creationId xmlns:p14="http://schemas.microsoft.com/office/powerpoint/2010/main" val="10966698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Based on Copyright</a:t>
            </a:r>
            <a:br>
              <a:rPr lang="en-US" b="1" dirty="0"/>
            </a:br>
            <a:endParaRPr lang="en-US" dirty="0"/>
          </a:p>
        </p:txBody>
      </p:sp>
      <p:sp>
        <p:nvSpPr>
          <p:cNvPr id="3" name="Content Placeholder 2"/>
          <p:cNvSpPr>
            <a:spLocks noGrp="1"/>
          </p:cNvSpPr>
          <p:nvPr>
            <p:ph idx="1"/>
          </p:nvPr>
        </p:nvSpPr>
        <p:spPr>
          <a:xfrm>
            <a:off x="1066799" y="1815737"/>
            <a:ext cx="10310949" cy="4362993"/>
          </a:xfrm>
        </p:spPr>
        <p:txBody>
          <a:bodyPr>
            <a:normAutofit/>
          </a:bodyPr>
          <a:lstStyle/>
          <a:p>
            <a:pPr marL="0" indent="0" fontAlgn="base">
              <a:buNone/>
            </a:pPr>
            <a:r>
              <a:rPr lang="en-GB" sz="2000" b="1" dirty="0"/>
              <a:t>Freeware Software:</a:t>
            </a:r>
          </a:p>
          <a:p>
            <a:pPr fontAlgn="base"/>
            <a:r>
              <a:rPr lang="en-GB" sz="2000" dirty="0"/>
              <a:t>Copies of the software can be made both for archival and distribution purposes, but here, distribution cannot be for making a profit. </a:t>
            </a:r>
          </a:p>
          <a:p>
            <a:pPr fontAlgn="base"/>
            <a:r>
              <a:rPr lang="en-GB" sz="2000" dirty="0"/>
              <a:t>Modifications to the software are allowed. </a:t>
            </a:r>
          </a:p>
          <a:p>
            <a:pPr marL="0" indent="0" fontAlgn="base">
              <a:buNone/>
            </a:pPr>
            <a:endParaRPr lang="en-GB" sz="2000" b="1" dirty="0"/>
          </a:p>
          <a:p>
            <a:pPr marL="0" indent="0" fontAlgn="base">
              <a:buNone/>
            </a:pPr>
            <a:r>
              <a:rPr lang="en-GB" sz="2000" b="1" dirty="0"/>
              <a:t>Public Domain Software:</a:t>
            </a:r>
          </a:p>
          <a:p>
            <a:pPr fontAlgn="base"/>
            <a:r>
              <a:rPr lang="en-GB" sz="2000" dirty="0"/>
              <a:t>Software copies can be made both for archival and distribution purposes with no restrictions on distribution. </a:t>
            </a:r>
          </a:p>
          <a:p>
            <a:pPr fontAlgn="base"/>
            <a:r>
              <a:rPr lang="en-GB" sz="2000" dirty="0"/>
              <a:t>Modifications to the software allowed.</a:t>
            </a:r>
          </a:p>
          <a:p>
            <a:endParaRPr lang="en-US" sz="2000" dirty="0"/>
          </a:p>
        </p:txBody>
      </p:sp>
    </p:spTree>
    <p:extLst>
      <p:ext uri="{BB962C8B-B14F-4D97-AF65-F5344CB8AC3E}">
        <p14:creationId xmlns:p14="http://schemas.microsoft.com/office/powerpoint/2010/main" val="11460818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solidFill>
                  <a:srgbClr val="FFFF00"/>
                </a:solidFill>
              </a:rPr>
              <a:t>Legacy Software</a:t>
            </a:r>
          </a:p>
        </p:txBody>
      </p:sp>
      <p:sp>
        <p:nvSpPr>
          <p:cNvPr id="5" name="Content Placeholder 4"/>
          <p:cNvSpPr>
            <a:spLocks noGrp="1"/>
          </p:cNvSpPr>
          <p:nvPr>
            <p:ph sz="quarter" idx="1"/>
          </p:nvPr>
        </p:nvSpPr>
        <p:spPr>
          <a:xfrm>
            <a:off x="1066800" y="2410631"/>
            <a:ext cx="10058400" cy="3931920"/>
          </a:xfrm>
        </p:spPr>
        <p:txBody>
          <a:bodyPr>
            <a:normAutofit/>
          </a:bodyPr>
          <a:lstStyle/>
          <a:p>
            <a:pPr algn="just"/>
            <a:r>
              <a:rPr lang="en-US" sz="2400" dirty="0"/>
              <a:t>Legacy software systems were developed decades ago and have been continually modified to meet changes in business requirements and computing platforms. </a:t>
            </a:r>
          </a:p>
          <a:p>
            <a:pPr algn="just"/>
            <a:endParaRPr lang="en-US" sz="2400" dirty="0"/>
          </a:p>
          <a:p>
            <a:pPr algn="just"/>
            <a:r>
              <a:rPr lang="en-US" sz="2400" dirty="0"/>
              <a:t>The proliferation of such systems is causing headaches for large organizations who find them costly to maintain and risky to evolve.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FF00"/>
                </a:solidFill>
              </a:rPr>
              <a:t>Problems In Legacy Systems</a:t>
            </a:r>
          </a:p>
        </p:txBody>
      </p:sp>
      <p:sp>
        <p:nvSpPr>
          <p:cNvPr id="5" name="Content Placeholder 4"/>
          <p:cNvSpPr>
            <a:spLocks noGrp="1"/>
          </p:cNvSpPr>
          <p:nvPr>
            <p:ph sz="quarter" idx="1"/>
          </p:nvPr>
        </p:nvSpPr>
        <p:spPr>
          <a:xfrm>
            <a:off x="1066800" y="2410631"/>
            <a:ext cx="10058400" cy="3931920"/>
          </a:xfrm>
        </p:spPr>
        <p:txBody>
          <a:bodyPr>
            <a:normAutofit/>
          </a:bodyPr>
          <a:lstStyle/>
          <a:p>
            <a:pPr algn="just"/>
            <a:r>
              <a:rPr lang="en-US" sz="2000" dirty="0"/>
              <a:t>Most legacy systems are of poor quality (inextensible designs, convoluted code, poor or nonexistent documentation, poor testing, poor change management).</a:t>
            </a:r>
          </a:p>
          <a:p>
            <a:pPr algn="just"/>
            <a:r>
              <a:rPr lang="en-US" sz="2000" b="1" dirty="0">
                <a:solidFill>
                  <a:srgbClr val="FFFF00"/>
                </a:solidFill>
              </a:rPr>
              <a:t>What to do?</a:t>
            </a:r>
          </a:p>
          <a:p>
            <a:pPr algn="just"/>
            <a:r>
              <a:rPr lang="en-US" sz="2000" i="1" dirty="0">
                <a:solidFill>
                  <a:srgbClr val="FFFF00"/>
                </a:solidFill>
              </a:rPr>
              <a:t>Do nothing</a:t>
            </a:r>
            <a:r>
              <a:rPr lang="en-US" sz="2000" i="1" dirty="0"/>
              <a:t>, </a:t>
            </a:r>
            <a:r>
              <a:rPr lang="en-US" sz="2000" dirty="0"/>
              <a:t>at least until the legacy system must undergo some significant change. </a:t>
            </a:r>
          </a:p>
          <a:p>
            <a:pPr algn="just"/>
            <a:r>
              <a:rPr lang="en-US" sz="2000" dirty="0"/>
              <a:t>If the legacy software meets the needs of its users and runs reliably, it isn’t broken and does not need to be fixed.</a:t>
            </a:r>
            <a:endParaRPr lang="en-US" sz="20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FF00"/>
                </a:solidFill>
              </a:rPr>
              <a:t>Evolution of Legacy systems</a:t>
            </a:r>
          </a:p>
        </p:txBody>
      </p:sp>
      <p:sp>
        <p:nvSpPr>
          <p:cNvPr id="5" name="Content Placeholder 4"/>
          <p:cNvSpPr>
            <a:spLocks noGrp="1"/>
          </p:cNvSpPr>
          <p:nvPr>
            <p:ph sz="quarter" idx="1"/>
          </p:nvPr>
        </p:nvSpPr>
        <p:spPr/>
        <p:txBody>
          <a:bodyPr>
            <a:noAutofit/>
          </a:bodyPr>
          <a:lstStyle/>
          <a:p>
            <a:pPr marL="0" indent="0" algn="just">
              <a:buNone/>
            </a:pPr>
            <a:r>
              <a:rPr lang="en-US" sz="2000" dirty="0"/>
              <a:t>However, as time passes, legacy systems often evolve for one or more of the following reasons:</a:t>
            </a:r>
          </a:p>
          <a:p>
            <a:pPr lvl="1" algn="just"/>
            <a:r>
              <a:rPr lang="en-US" sz="2000" dirty="0">
                <a:solidFill>
                  <a:schemeClr val="tx1"/>
                </a:solidFill>
              </a:rPr>
              <a:t>The software must be adapted to meet the needs of new computing environments or technology.</a:t>
            </a:r>
          </a:p>
          <a:p>
            <a:pPr lvl="1" algn="just"/>
            <a:r>
              <a:rPr lang="en-US" sz="2000" dirty="0">
                <a:solidFill>
                  <a:schemeClr val="tx1"/>
                </a:solidFill>
              </a:rPr>
              <a:t>The software must be enhanced to implement new business requirements.</a:t>
            </a:r>
          </a:p>
          <a:p>
            <a:pPr lvl="1" algn="just"/>
            <a:r>
              <a:rPr lang="en-US" sz="2000" dirty="0">
                <a:solidFill>
                  <a:schemeClr val="tx1"/>
                </a:solidFill>
              </a:rPr>
              <a:t>The software must be extended to make it interoperable with other more modern systems or databases.</a:t>
            </a:r>
          </a:p>
          <a:p>
            <a:pPr lvl="1" algn="just"/>
            <a:r>
              <a:rPr lang="en-US" sz="2000" dirty="0">
                <a:solidFill>
                  <a:schemeClr val="tx1"/>
                </a:solidFill>
              </a:rPr>
              <a:t>The software must be re-architected to make it viable within a network environment.</a:t>
            </a:r>
          </a:p>
          <a:p>
            <a:pPr algn="just"/>
            <a:r>
              <a:rPr lang="en-US" sz="2000" dirty="0"/>
              <a:t>When these modes of evolution occur, a legacy system must be reengineered, so that it remains viable into the future.</a:t>
            </a:r>
            <a:endParaRPr lang="en-US" sz="20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barn(inVertical)">
                                      <p:cBhvr>
                                        <p:cTn id="13" dur="5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circle(in)">
                                      <p:cBhvr>
                                        <p:cTn id="18" dur="2000"/>
                                        <p:tgtEl>
                                          <p:spTgt spid="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fade">
                                      <p:cBhvr>
                                        <p:cTn id="23" dur="500"/>
                                        <p:tgtEl>
                                          <p:spTgt spid="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
                                            <p:txEl>
                                              <p:pRg st="5" end="5"/>
                                            </p:txEl>
                                          </p:spTgt>
                                        </p:tgtEl>
                                        <p:attrNameLst>
                                          <p:attrName>style.visibility</p:attrName>
                                        </p:attrNameLst>
                                      </p:cBhvr>
                                      <p:to>
                                        <p:strVal val="visible"/>
                                      </p:to>
                                    </p:set>
                                    <p:animEffect transition="in" filter="fade">
                                      <p:cBhvr>
                                        <p:cTn id="28"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General issues that affect software</a:t>
            </a:r>
          </a:p>
        </p:txBody>
      </p:sp>
      <p:sp>
        <p:nvSpPr>
          <p:cNvPr id="3" name="Content Placeholder 2"/>
          <p:cNvSpPr>
            <a:spLocks noGrp="1"/>
          </p:cNvSpPr>
          <p:nvPr>
            <p:ph idx="1"/>
          </p:nvPr>
        </p:nvSpPr>
        <p:spPr/>
        <p:txBody>
          <a:bodyPr>
            <a:normAutofit/>
          </a:bodyPr>
          <a:lstStyle/>
          <a:p>
            <a:pPr marL="0" indent="0" algn="just">
              <a:lnSpc>
                <a:spcPct val="150000"/>
              </a:lnSpc>
              <a:buNone/>
            </a:pPr>
            <a:r>
              <a:rPr lang="en-GB" sz="2400" dirty="0"/>
              <a:t>Security and trust </a:t>
            </a:r>
          </a:p>
          <a:p>
            <a:pPr algn="just">
              <a:lnSpc>
                <a:spcPct val="150000"/>
              </a:lnSpc>
            </a:pPr>
            <a:r>
              <a:rPr lang="en-GB" dirty="0"/>
              <a:t>It is essential that we can trust the software. This is especially true for remote software system access through a web page or web services infrastructure. We have to make sure that miscellaneous data or files or users cannot attack our software and that information security is maintained.</a:t>
            </a:r>
          </a:p>
          <a:p>
            <a:pPr algn="just">
              <a:lnSpc>
                <a:spcPct val="150000"/>
              </a:lnSpc>
            </a:pPr>
            <a:r>
              <a:rPr lang="en-GB" dirty="0"/>
              <a:t>For example- with the increasing reliance on online banking security is major and crucial to protecting insensitive financial information. Software must be fortified against pushing attempts, malware and other cyber threats.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1000"/>
                                        <p:tgtEl>
                                          <p:spTgt spid="3">
                                            <p:txEl>
                                              <p:pRg st="2" end="2"/>
                                            </p:txEl>
                                          </p:spTgt>
                                        </p:tgtEl>
                                      </p:cBhvr>
                                    </p:animEffect>
                                    <p:anim calcmode="lin" valueType="num">
                                      <p:cBhvr>
                                        <p:cTn id="21"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General issues that affect software</a:t>
            </a:r>
          </a:p>
        </p:txBody>
      </p:sp>
      <p:sp>
        <p:nvSpPr>
          <p:cNvPr id="3" name="Content Placeholder 2"/>
          <p:cNvSpPr>
            <a:spLocks noGrp="1"/>
          </p:cNvSpPr>
          <p:nvPr>
            <p:ph idx="1"/>
          </p:nvPr>
        </p:nvSpPr>
        <p:spPr/>
        <p:txBody>
          <a:bodyPr/>
          <a:lstStyle/>
          <a:p>
            <a:pPr marL="0" indent="0">
              <a:buNone/>
            </a:pPr>
            <a:r>
              <a:rPr lang="en-GB" sz="2400" dirty="0"/>
              <a:t>Business and social change </a:t>
            </a:r>
          </a:p>
          <a:p>
            <a:r>
              <a:rPr lang="en-GB" dirty="0"/>
              <a:t>This changes quickly as emerging economies develop and new technologies become available. They need to be able to change and evolve their existing software and so rapidly develop new software by reducing the delivery time. Many traditional software engineering techniques are time-consuming and delivery of new systems often takes longer than planned.</a:t>
            </a:r>
          </a:p>
          <a:p>
            <a:r>
              <a:rPr lang="en-GB" dirty="0"/>
              <a:t>For example- an e-commerce platform needs to add up to changing customer behaviour and emerging technologies to remain competitive agile Development Methodologies enable quick adjustment and feature rollouts.</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General issues that affect software</a:t>
            </a:r>
          </a:p>
        </p:txBody>
      </p:sp>
      <p:sp>
        <p:nvSpPr>
          <p:cNvPr id="3" name="Content Placeholder 2"/>
          <p:cNvSpPr>
            <a:spLocks noGrp="1"/>
          </p:cNvSpPr>
          <p:nvPr>
            <p:ph idx="1"/>
          </p:nvPr>
        </p:nvSpPr>
        <p:spPr/>
        <p:txBody>
          <a:bodyPr/>
          <a:lstStyle/>
          <a:p>
            <a:pPr marL="0" indent="0" algn="just">
              <a:lnSpc>
                <a:spcPct val="150000"/>
              </a:lnSpc>
              <a:buNone/>
            </a:pPr>
            <a:r>
              <a:rPr lang="en-GB" sz="2400" dirty="0"/>
              <a:t>Heterogeneity </a:t>
            </a:r>
          </a:p>
          <a:p>
            <a:pPr algn="just">
              <a:lnSpc>
                <a:spcPct val="150000"/>
              </a:lnSpc>
            </a:pPr>
            <a:r>
              <a:rPr lang="en-GB" dirty="0"/>
              <a:t>Developers often have to integrate new software with older legacy systems, written in different programming languages like </a:t>
            </a:r>
            <a:r>
              <a:rPr lang="en-GB" i="1" dirty="0"/>
              <a:t>JAVA</a:t>
            </a:r>
            <a:r>
              <a:rPr lang="en-GB" dirty="0"/>
              <a:t> or </a:t>
            </a:r>
            <a:r>
              <a:rPr lang="en-GB" i="1" dirty="0"/>
              <a:t>Python</a:t>
            </a:r>
            <a:r>
              <a:rPr lang="en-GB" dirty="0"/>
              <a:t>. The challenge here is to develop a technique for building dependable software that is flexible enough to cope with the heterogeneity.</a:t>
            </a:r>
          </a:p>
          <a:p>
            <a:pPr algn="just">
              <a:lnSpc>
                <a:spcPct val="150000"/>
              </a:lnSpc>
            </a:pPr>
            <a:r>
              <a:rPr lang="en-GB" dirty="0"/>
              <a:t>Example- Imagine a cloud-based application needed to interact with both traditional desktop computers and modern devices. Bridging the gap between this diversion platform requires a flexible and robust software architecture</a:t>
            </a:r>
          </a:p>
          <a:p>
            <a:pPr algn="just">
              <a:lnSpc>
                <a:spcPct val="150000"/>
              </a:lnSpc>
            </a:pPr>
            <a:endParaRPr lang="en-US" dirty="0"/>
          </a:p>
        </p:txBody>
      </p:sp>
    </p:spTree>
    <p:extLst>
      <p:ext uri="{BB962C8B-B14F-4D97-AF65-F5344CB8AC3E}">
        <p14:creationId xmlns:p14="http://schemas.microsoft.com/office/powerpoint/2010/main" val="2592287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FF00"/>
                </a:solidFill>
              </a:rPr>
              <a:t>Software Engineering diversity</a:t>
            </a:r>
          </a:p>
        </p:txBody>
      </p:sp>
      <p:sp>
        <p:nvSpPr>
          <p:cNvPr id="3" name="Content Placeholder 2"/>
          <p:cNvSpPr>
            <a:spLocks noGrp="1"/>
          </p:cNvSpPr>
          <p:nvPr>
            <p:ph idx="1"/>
          </p:nvPr>
        </p:nvSpPr>
        <p:spPr>
          <a:xfrm>
            <a:off x="1066800" y="2335348"/>
            <a:ext cx="10058400" cy="3931920"/>
          </a:xfrm>
        </p:spPr>
        <p:txBody>
          <a:bodyPr>
            <a:normAutofit/>
          </a:bodyPr>
          <a:lstStyle/>
          <a:p>
            <a:pPr algn="just"/>
            <a:r>
              <a:rPr lang="en-US" sz="2400" dirty="0"/>
              <a:t>There are many different types of software system and there is no universal set of software techniques that is applicable to all of these.</a:t>
            </a:r>
          </a:p>
          <a:p>
            <a:pPr marL="0" indent="0" algn="just">
              <a:buNone/>
            </a:pPr>
            <a:endParaRPr lang="en-US" sz="2400" dirty="0"/>
          </a:p>
          <a:p>
            <a:pPr algn="just"/>
            <a:r>
              <a:rPr lang="en-US" sz="2400" dirty="0"/>
              <a:t>The software engineering methods and tools used depend on the type of application being developed, the requirements of the customer and the background of the development team.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FF00"/>
                </a:solidFill>
              </a:rPr>
              <a:t>Application Types</a:t>
            </a:r>
          </a:p>
        </p:txBody>
      </p:sp>
      <p:sp>
        <p:nvSpPr>
          <p:cNvPr id="3" name="Content Placeholder 2"/>
          <p:cNvSpPr>
            <a:spLocks noGrp="1"/>
          </p:cNvSpPr>
          <p:nvPr>
            <p:ph idx="1"/>
          </p:nvPr>
        </p:nvSpPr>
        <p:spPr>
          <a:xfrm>
            <a:off x="413656" y="2217394"/>
            <a:ext cx="11110686" cy="3931920"/>
          </a:xfrm>
        </p:spPr>
        <p:txBody>
          <a:bodyPr>
            <a:noAutofit/>
          </a:bodyPr>
          <a:lstStyle/>
          <a:p>
            <a:pPr algn="just"/>
            <a:r>
              <a:rPr lang="en-GB" sz="2400" b="1" dirty="0">
                <a:solidFill>
                  <a:srgbClr val="FFFF00"/>
                </a:solidFill>
              </a:rPr>
              <a:t>Stand-alone applications </a:t>
            </a:r>
          </a:p>
          <a:p>
            <a:pPr lvl="1" algn="just"/>
            <a:r>
              <a:rPr lang="en-GB" sz="2000" dirty="0"/>
              <a:t>These are application systems that run on a local computer, such as a PC. They include all necessary functionality and do not need to be connected to a network. </a:t>
            </a:r>
          </a:p>
          <a:p>
            <a:pPr algn="just"/>
            <a:r>
              <a:rPr lang="en-GB" sz="2400" b="1" dirty="0">
                <a:solidFill>
                  <a:srgbClr val="FFFF00"/>
                </a:solidFill>
              </a:rPr>
              <a:t>Interactive transaction-based applications</a:t>
            </a:r>
            <a:r>
              <a:rPr lang="en-GB" sz="2400" b="1" i="1" dirty="0">
                <a:solidFill>
                  <a:srgbClr val="FFFF00"/>
                </a:solidFill>
              </a:rPr>
              <a:t> </a:t>
            </a:r>
          </a:p>
          <a:p>
            <a:pPr lvl="1" algn="just"/>
            <a:r>
              <a:rPr lang="en-GB" sz="2000" dirty="0"/>
              <a:t>Applications that execute on a remote computer and are accessed by users from their own PCs or terminals. These include web applications such as </a:t>
            </a:r>
            <a:r>
              <a:rPr lang="en-GB" sz="2000" dirty="0" err="1"/>
              <a:t>e</a:t>
            </a:r>
            <a:r>
              <a:rPr lang="en-GB" sz="2000" dirty="0"/>
              <a:t>-commerce applications. </a:t>
            </a:r>
          </a:p>
          <a:p>
            <a:pPr algn="just"/>
            <a:r>
              <a:rPr lang="en-GB" sz="2400" b="1" dirty="0">
                <a:solidFill>
                  <a:srgbClr val="FFFF00"/>
                </a:solidFill>
              </a:rPr>
              <a:t>Embedded control systems </a:t>
            </a:r>
          </a:p>
          <a:p>
            <a:pPr lvl="1" algn="just"/>
            <a:r>
              <a:rPr lang="en-GB" sz="2000" dirty="0"/>
              <a:t>These are software control systems that control and manage hardware devices. Numerically, there are probably more embedded systems than any other type of system.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1000"/>
                                        <p:tgtEl>
                                          <p:spTgt spid="3">
                                            <p:txEl>
                                              <p:pRg st="2" end="2"/>
                                            </p:txEl>
                                          </p:spTgt>
                                        </p:tgtEl>
                                      </p:cBhvr>
                                    </p:animEffect>
                                    <p:anim calcmode="lin" valueType="num">
                                      <p:cBhvr>
                                        <p:cTn id="1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7"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1000"/>
                                        <p:tgtEl>
                                          <p:spTgt spid="3">
                                            <p:txEl>
                                              <p:pRg st="3" end="3"/>
                                            </p:txEl>
                                          </p:spTgt>
                                        </p:tgtEl>
                                      </p:cBhvr>
                                    </p:animEffect>
                                    <p:anim calcmode="lin" valueType="num">
                                      <p:cBhvr>
                                        <p:cTn id="21"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FF00"/>
                </a:solidFill>
              </a:rPr>
              <a:t>Application Types</a:t>
            </a:r>
          </a:p>
        </p:txBody>
      </p:sp>
      <p:sp>
        <p:nvSpPr>
          <p:cNvPr id="3" name="Content Placeholder 2"/>
          <p:cNvSpPr>
            <a:spLocks noGrp="1"/>
          </p:cNvSpPr>
          <p:nvPr>
            <p:ph idx="1"/>
          </p:nvPr>
        </p:nvSpPr>
        <p:spPr>
          <a:xfrm>
            <a:off x="667657" y="2190206"/>
            <a:ext cx="10856686" cy="3931920"/>
          </a:xfrm>
        </p:spPr>
        <p:txBody>
          <a:bodyPr>
            <a:noAutofit/>
          </a:bodyPr>
          <a:lstStyle/>
          <a:p>
            <a:pPr algn="just"/>
            <a:r>
              <a:rPr lang="en-GB" sz="2400" b="1" dirty="0">
                <a:solidFill>
                  <a:srgbClr val="FFFF00"/>
                </a:solidFill>
              </a:rPr>
              <a:t>Batch processing systems </a:t>
            </a:r>
          </a:p>
          <a:p>
            <a:pPr lvl="1" algn="just"/>
            <a:r>
              <a:rPr lang="en-GB" sz="2000" dirty="0"/>
              <a:t>These are business systems that are designed to process data in large batches. They process large numbers of individual inputs to create corresponding outputs. </a:t>
            </a:r>
          </a:p>
          <a:p>
            <a:pPr algn="just"/>
            <a:r>
              <a:rPr lang="en-GB" sz="2400" b="1" dirty="0">
                <a:solidFill>
                  <a:srgbClr val="FFFF00"/>
                </a:solidFill>
              </a:rPr>
              <a:t>Entertainment systems </a:t>
            </a:r>
          </a:p>
          <a:p>
            <a:pPr lvl="1" algn="just"/>
            <a:r>
              <a:rPr lang="en-GB" sz="2000" dirty="0"/>
              <a:t>These are systems that are primarily for personal use and which are intended to entertain the user. </a:t>
            </a:r>
          </a:p>
          <a:p>
            <a:pPr algn="just"/>
            <a:r>
              <a:rPr lang="en-GB" sz="2400" b="1" dirty="0">
                <a:solidFill>
                  <a:srgbClr val="FFFF00"/>
                </a:solidFill>
              </a:rPr>
              <a:t>Systems for Modelling and Simulation </a:t>
            </a:r>
          </a:p>
          <a:p>
            <a:pPr lvl="1" algn="just"/>
            <a:r>
              <a:rPr lang="en-GB" sz="2000" dirty="0"/>
              <a:t>These are systems that are developed by scientists and engineers to model physical processes or situations, which include many, separate, interacting objects.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ircle(in)">
                                      <p:cBhvr>
                                        <p:cTn id="10" dur="20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1000"/>
                                        <p:tgtEl>
                                          <p:spTgt spid="3">
                                            <p:txEl>
                                              <p:pRg st="2" end="2"/>
                                            </p:txEl>
                                          </p:spTgt>
                                        </p:tgtEl>
                                      </p:cBhvr>
                                    </p:animEffect>
                                    <p:anim calcmode="lin" valueType="num">
                                      <p:cBhvr>
                                        <p:cTn id="1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7"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1000"/>
                                        <p:tgtEl>
                                          <p:spTgt spid="3">
                                            <p:txEl>
                                              <p:pRg st="3" end="3"/>
                                            </p:txEl>
                                          </p:spTgt>
                                        </p:tgtEl>
                                      </p:cBhvr>
                                    </p:animEffect>
                                    <p:anim calcmode="lin" valueType="num">
                                      <p:cBhvr>
                                        <p:cTn id="21"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FF00"/>
                </a:solidFill>
              </a:rPr>
              <a:t>Application Types</a:t>
            </a:r>
          </a:p>
        </p:txBody>
      </p:sp>
      <p:sp>
        <p:nvSpPr>
          <p:cNvPr id="3" name="Content Placeholder 2"/>
          <p:cNvSpPr>
            <a:spLocks noGrp="1"/>
          </p:cNvSpPr>
          <p:nvPr>
            <p:ph idx="1"/>
          </p:nvPr>
        </p:nvSpPr>
        <p:spPr>
          <a:xfrm>
            <a:off x="1066800" y="2451463"/>
            <a:ext cx="10058400" cy="3931920"/>
          </a:xfrm>
        </p:spPr>
        <p:txBody>
          <a:bodyPr>
            <a:normAutofit/>
          </a:bodyPr>
          <a:lstStyle/>
          <a:p>
            <a:pPr algn="just"/>
            <a:r>
              <a:rPr lang="en-GB" sz="2400" b="1" dirty="0">
                <a:solidFill>
                  <a:srgbClr val="FFFF00"/>
                </a:solidFill>
              </a:rPr>
              <a:t>Data collection systems </a:t>
            </a:r>
            <a:r>
              <a:rPr lang="en-GB" sz="2400" i="1" dirty="0"/>
              <a:t>	</a:t>
            </a:r>
          </a:p>
          <a:p>
            <a:pPr lvl="1" algn="just"/>
            <a:r>
              <a:rPr lang="en-GB" sz="2000" dirty="0"/>
              <a:t>These are systems that collect data from their environment using a set of sensors and send that data to other systems for processing. </a:t>
            </a:r>
          </a:p>
          <a:p>
            <a:pPr lvl="1" algn="just"/>
            <a:endParaRPr lang="en-GB" sz="2000" dirty="0"/>
          </a:p>
          <a:p>
            <a:pPr algn="just"/>
            <a:r>
              <a:rPr lang="en-GB" sz="2400" b="1" dirty="0">
                <a:solidFill>
                  <a:srgbClr val="FFFF00"/>
                </a:solidFill>
              </a:rPr>
              <a:t>Systems of Systems </a:t>
            </a:r>
          </a:p>
          <a:p>
            <a:pPr lvl="1" algn="just"/>
            <a:r>
              <a:rPr lang="en-GB" sz="2000" dirty="0"/>
              <a:t>These are systems that are composed of a number of other software systems.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8316" y="1080475"/>
            <a:ext cx="10058400" cy="1371600"/>
          </a:xfrm>
        </p:spPr>
        <p:txBody>
          <a:bodyPr>
            <a:normAutofit fontScale="90000"/>
          </a:bodyPr>
          <a:lstStyle/>
          <a:p>
            <a:r>
              <a:rPr lang="en-US" b="1" dirty="0">
                <a:solidFill>
                  <a:srgbClr val="FFFF00"/>
                </a:solidFill>
              </a:rPr>
              <a:t>Goal of modern Software Engineering</a:t>
            </a:r>
          </a:p>
        </p:txBody>
      </p:sp>
      <p:sp>
        <p:nvSpPr>
          <p:cNvPr id="5" name="Content Placeholder 4"/>
          <p:cNvSpPr>
            <a:spLocks noGrp="1"/>
          </p:cNvSpPr>
          <p:nvPr>
            <p:ph sz="quarter" idx="1"/>
          </p:nvPr>
        </p:nvSpPr>
        <p:spPr>
          <a:xfrm>
            <a:off x="1447800" y="2871988"/>
            <a:ext cx="9372600" cy="3284971"/>
          </a:xfrm>
        </p:spPr>
        <p:txBody>
          <a:bodyPr>
            <a:normAutofit/>
          </a:bodyPr>
          <a:lstStyle/>
          <a:p>
            <a:pPr marL="0" indent="0" algn="just">
              <a:buNone/>
            </a:pPr>
            <a:r>
              <a:rPr lang="en-US" sz="2800" dirty="0"/>
              <a:t>The goal of modern software engineering is to “devise methodologies that are founded on the notion of evolution”; that is, the notion that software systems continually change, new software systems are built from the old ones, and . . . all must interoperate and cooperate with each other” [Day99].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avon">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Savon</Template>
  <TotalTime>236</TotalTime>
  <Words>2811</Words>
  <Application>Microsoft Macintosh PowerPoint</Application>
  <PresentationFormat>Widescreen</PresentationFormat>
  <Paragraphs>206</Paragraphs>
  <Slides>35</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Century Gothic</vt:lpstr>
      <vt:lpstr>Futura-CondensedLight</vt:lpstr>
      <vt:lpstr>Wingdings</vt:lpstr>
      <vt:lpstr>Wingdings 3</vt:lpstr>
      <vt:lpstr>Savon</vt:lpstr>
      <vt:lpstr>Introduction to Software Engineering  </vt:lpstr>
      <vt:lpstr>What is a Software Process?</vt:lpstr>
      <vt:lpstr>Software Engineering Layers</vt:lpstr>
      <vt:lpstr>A quality focus</vt:lpstr>
      <vt:lpstr>Process</vt:lpstr>
      <vt:lpstr>Process activities</vt:lpstr>
      <vt:lpstr>PowerPoint Presentation</vt:lpstr>
      <vt:lpstr>Software vs Hardware</vt:lpstr>
      <vt:lpstr>Similarities and Differences</vt:lpstr>
      <vt:lpstr>Failure Curve</vt:lpstr>
      <vt:lpstr>Failure Curve For Hardware</vt:lpstr>
      <vt:lpstr>PowerPoint Presentation</vt:lpstr>
      <vt:lpstr>PowerPoint Presentation</vt:lpstr>
      <vt:lpstr>Failure Rate Curve For Software</vt:lpstr>
      <vt:lpstr>PowerPoint Presentation</vt:lpstr>
      <vt:lpstr>“Wear out” Aspect</vt:lpstr>
      <vt:lpstr>Software Domains</vt:lpstr>
      <vt:lpstr>Based on Application </vt:lpstr>
      <vt:lpstr>Based on Application </vt:lpstr>
      <vt:lpstr>Based on Application</vt:lpstr>
      <vt:lpstr>Based on Application </vt:lpstr>
      <vt:lpstr>Based on Application </vt:lpstr>
      <vt:lpstr>Based on Copyright </vt:lpstr>
      <vt:lpstr>Based on Copyright </vt:lpstr>
      <vt:lpstr>Legacy Software</vt:lpstr>
      <vt:lpstr>Problems In Legacy Systems</vt:lpstr>
      <vt:lpstr>Evolution of Legacy systems</vt:lpstr>
      <vt:lpstr>General issues that affect software</vt:lpstr>
      <vt:lpstr>General issues that affect software</vt:lpstr>
      <vt:lpstr>General issues that affect software</vt:lpstr>
      <vt:lpstr>Software Engineering diversity</vt:lpstr>
      <vt:lpstr>Application Types</vt:lpstr>
      <vt:lpstr>Application Types</vt:lpstr>
      <vt:lpstr>Application Types</vt:lpstr>
      <vt:lpstr>Goal of modern Software Engineering</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Software Engineering </dc:title>
  <dc:creator>Windows User</dc:creator>
  <cp:lastModifiedBy>Microsoft Office User</cp:lastModifiedBy>
  <cp:revision>63</cp:revision>
  <dcterms:created xsi:type="dcterms:W3CDTF">2021-02-15T05:23:00Z</dcterms:created>
  <dcterms:modified xsi:type="dcterms:W3CDTF">2026-03-10T05:46:19Z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16E3E8272FE24FD3A005CDDD32323F2A_12</vt:lpwstr>
  </property>
  <property fmtid="{D5CDD505-2E9C-101B-9397-08002B2CF9AE}" pid="3" name="KSOProductBuildVer">
    <vt:lpwstr>1033-12.2.0.13215</vt:lpwstr>
  </property>
</Properties>
</file>